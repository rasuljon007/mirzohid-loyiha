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4" r:id="rId45"/>
    <p:sldId id="257" r:id="rId3"/>
    <p:sldId id="297" r:id="rId48"/>
    <p:sldId id="258" r:id="rId4"/>
    <p:sldId id="293" r:id="rId44"/>
    <p:sldId id="298" r:id="rId49"/>
    <p:sldId id="259" r:id="rId5"/>
    <p:sldId id="260" r:id="rId6"/>
    <p:sldId id="263" r:id="rId9"/>
    <p:sldId id="264" r:id="rId10"/>
    <p:sldId id="261" r:id="rId7"/>
    <p:sldId id="268" r:id="rId14"/>
    <p:sldId id="269" r:id="rId15"/>
    <p:sldId id="270" r:id="rId16"/>
    <p:sldId id="299" r:id="rId50"/>
    <p:sldId id="295" r:id="rId46"/>
    <p:sldId id="271" r:id="rId17"/>
    <p:sldId id="300" r:id="rId51"/>
    <p:sldId id="265" r:id="rId11"/>
    <p:sldId id="266" r:id="rId12"/>
    <p:sldId id="267" r:id="rId13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3.xml"/><Relationship Id="rId8" Type="http://schemas.openxmlformats.org/officeDocument/2006/relationships/slide" Target="slides/slide14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9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18.xml"/><Relationship Id="rId47" Type="http://schemas.openxmlformats.org/officeDocument/2006/relationships/slide" Target="slides/slide20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Jami shoʻrlangan</c:v>
                </c:pt>
              </c:strCache>
            </c:strRef>
          </c:tx>
          <c:spPr>
            <a:solidFill>
              <a:srgbClr val="2E75B6"/>
            </a:solidFill>
          </c:spPr>
          <c:dPt>
            <c:idx val="5"/>
            <c:spPr>
              <a:solidFill>
                <a:srgbClr val="C55A11"/>
              </a:solidFill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7.603</c:v>
                </c:pt>
                <c:pt idx="1">
                  <c:v>7.64</c:v>
                </c:pt>
                <c:pt idx="2">
                  <c:v>6.689</c:v>
                </c:pt>
                <c:pt idx="3">
                  <c:v>6.689</c:v>
                </c:pt>
                <c:pt idx="4">
                  <c:v>6.8</c:v>
                </c:pt>
                <c:pt idx="5">
                  <c:v>8.08</c:v>
                </c:pt>
                <c:pt idx="6">
                  <c:v>6.63</c:v>
                </c:pt>
                <c:pt idx="7">
                  <c:v>6.21</c:v>
                </c:pt>
                <c:pt idx="8">
                  <c:v>5.68</c:v>
                </c:pt>
                <c:pt idx="9">
                  <c:v>5.44</c:v>
                </c:pt>
                <c:pt idx="10">
                  <c:v>5.26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Paxta</c:v>
                </c:pt>
              </c:strCache>
            </c:strRef>
          </c:tx>
          <c:spPr>
            <a:solidFill>
              <a:srgbClr val="2E75B6"/>
            </a:solidFill>
          </c:spPr>
          <c:dPt>
            <c:idx val="10"/>
            <c:spPr>
              <a:solidFill>
                <a:srgbClr val="C55A11"/>
              </a:solidFill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30.5</c:v>
                </c:pt>
                <c:pt idx="1">
                  <c:v>24.8</c:v>
                </c:pt>
                <c:pt idx="2">
                  <c:v>26.8</c:v>
                </c:pt>
                <c:pt idx="3">
                  <c:v>26.6</c:v>
                </c:pt>
                <c:pt idx="4">
                  <c:v>32.6</c:v>
                </c:pt>
                <c:pt idx="5">
                  <c:v>33.8</c:v>
                </c:pt>
                <c:pt idx="6">
                  <c:v>35.4</c:v>
                </c:pt>
                <c:pt idx="7">
                  <c:v>37.0</c:v>
                </c:pt>
                <c:pt idx="8">
                  <c:v>39.3</c:v>
                </c:pt>
                <c:pt idx="9">
                  <c:v>35.1</c:v>
                </c:pt>
                <c:pt idx="10">
                  <c:v>46.6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Gʻalla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62.7</c:v>
                </c:pt>
                <c:pt idx="1">
                  <c:v>65.2</c:v>
                </c:pt>
                <c:pt idx="2">
                  <c:v>63.6</c:v>
                </c:pt>
                <c:pt idx="3">
                  <c:v>65.5</c:v>
                </c:pt>
                <c:pt idx="4">
                  <c:v>70.6</c:v>
                </c:pt>
                <c:pt idx="5">
                  <c:v>71.1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Paxta</c:v>
                </c:pt>
              </c:strCache>
            </c:strRef>
          </c:tx>
          <c:spPr>
            <a:solidFill>
              <a:srgbClr val="2E75B6"/>
            </a:solidFill>
          </c:spPr>
          <c:dPt>
            <c:idx val="11"/>
            <c:spPr>
              <a:solidFill>
                <a:srgbClr val="C55A11"/>
              </a:solidFill>
            </c:spPr>
          </c:dPt>
          <c:cat>
            <c:strRef>
              <c:f>Sheet1!$A$2:$A$14</c:f>
              <c:strCache>
                <c:ptCount val="13"/>
                <c:pt idx="0">
                  <c:v>Jalaquduq</c:v>
                </c:pt>
                <c:pt idx="1">
                  <c:v>Qoʻrgʻontepa</c:v>
                </c:pt>
                <c:pt idx="2">
                  <c:v>Baliqchi</c:v>
                </c:pt>
                <c:pt idx="3">
                  <c:v>Marhamat</c:v>
                </c:pt>
                <c:pt idx="4">
                  <c:v>Oltinkoʻl</c:v>
                </c:pt>
                <c:pt idx="5">
                  <c:v>Xoʻjaobod</c:v>
                </c:pt>
                <c:pt idx="6">
                  <c:v>Paxtaobod</c:v>
                </c:pt>
                <c:pt idx="7">
                  <c:v>Buloqboshi</c:v>
                </c:pt>
                <c:pt idx="8">
                  <c:v>Andijon</c:v>
                </c:pt>
                <c:pt idx="9">
                  <c:v>Izboskan</c:v>
                </c:pt>
                <c:pt idx="10">
                  <c:v>Shahrixon</c:v>
                </c:pt>
                <c:pt idx="11">
                  <c:v>Ulugʻnor</c:v>
                </c:pt>
                <c:pt idx="12">
                  <c:v>Boʻston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50.0</c:v>
                </c:pt>
                <c:pt idx="1">
                  <c:v>48.5</c:v>
                </c:pt>
                <c:pt idx="2">
                  <c:v>48.0</c:v>
                </c:pt>
                <c:pt idx="3">
                  <c:v>48.0</c:v>
                </c:pt>
                <c:pt idx="4">
                  <c:v>48.0</c:v>
                </c:pt>
                <c:pt idx="5">
                  <c:v>47.2</c:v>
                </c:pt>
                <c:pt idx="6">
                  <c:v>47.0</c:v>
                </c:pt>
                <c:pt idx="7">
                  <c:v>46.4</c:v>
                </c:pt>
                <c:pt idx="8">
                  <c:v>46.3</c:v>
                </c:pt>
                <c:pt idx="9">
                  <c:v>45.9</c:v>
                </c:pt>
                <c:pt idx="10">
                  <c:v>45.9</c:v>
                </c:pt>
                <c:pt idx="11">
                  <c:v>43.2</c:v>
                </c:pt>
                <c:pt idx="12">
                  <c:v>42.9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Paxta maydoni</c:v>
                </c:pt>
              </c:strCache>
            </c:strRef>
          </c:tx>
          <c:spPr>
            <a:solidFill>
              <a:srgbClr val="2E75B6"/>
            </a:solidFill>
          </c:spPr>
          <c:dPt>
            <c:idx val="10"/>
            <c:spPr>
              <a:solidFill>
                <a:srgbClr val="C55A11"/>
              </a:solidFill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93.4</c:v>
                </c:pt>
                <c:pt idx="1">
                  <c:v>91.4</c:v>
                </c:pt>
                <c:pt idx="2">
                  <c:v>89.2</c:v>
                </c:pt>
                <c:pt idx="3">
                  <c:v>81.8</c:v>
                </c:pt>
                <c:pt idx="4">
                  <c:v>79.4</c:v>
                </c:pt>
                <c:pt idx="5">
                  <c:v>79.4</c:v>
                </c:pt>
                <c:pt idx="6">
                  <c:v>79.0</c:v>
                </c:pt>
                <c:pt idx="7">
                  <c:v>75.0</c:v>
                </c:pt>
                <c:pt idx="8">
                  <c:v>71.3</c:v>
                </c:pt>
                <c:pt idx="9">
                  <c:v>70.0</c:v>
                </c:pt>
                <c:pt idx="10">
                  <c:v>60.0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9B5AE"/>
            </a:solidFill>
          </c:spPr>
          <c:cat>
            <c:strRef>
              <c:f>Sheet1!$A$2:$A$9</c:f>
              <c:strCache>
                <c:ptCount val="8"/>
                <c:pt idx="0">
                  <c:v>Baliqchi</c:v>
                </c:pt>
                <c:pt idx="1">
                  <c:v>Qoʻrgʻontepa</c:v>
                </c:pt>
                <c:pt idx="2">
                  <c:v>Izboskan</c:v>
                </c:pt>
                <c:pt idx="3">
                  <c:v>Shahrixon</c:v>
                </c:pt>
                <c:pt idx="4">
                  <c:v>Jalaquduq</c:v>
                </c:pt>
                <c:pt idx="5">
                  <c:v>Paxtaobod</c:v>
                </c:pt>
                <c:pt idx="6">
                  <c:v>Andijon</c:v>
                </c:pt>
                <c:pt idx="7">
                  <c:v>Buloqboshi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9026</c:v>
                </c:pt>
                <c:pt idx="1">
                  <c:v>7414</c:v>
                </c:pt>
                <c:pt idx="2">
                  <c:v>7228</c:v>
                </c:pt>
                <c:pt idx="3">
                  <c:v>6341</c:v>
                </c:pt>
                <c:pt idx="4">
                  <c:v>5330</c:v>
                </c:pt>
                <c:pt idx="5">
                  <c:v>5275</c:v>
                </c:pt>
                <c:pt idx="6">
                  <c:v>3724</c:v>
                </c:pt>
                <c:pt idx="7">
                  <c:v>2403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Sheet1!$A$2:$A$9</c:f>
              <c:strCache>
                <c:ptCount val="8"/>
                <c:pt idx="0">
                  <c:v>Baliqchi</c:v>
                </c:pt>
                <c:pt idx="1">
                  <c:v>Qoʻrgʻontepa</c:v>
                </c:pt>
                <c:pt idx="2">
                  <c:v>Izboskan</c:v>
                </c:pt>
                <c:pt idx="3">
                  <c:v>Shahrixon</c:v>
                </c:pt>
                <c:pt idx="4">
                  <c:v>Jalaquduq</c:v>
                </c:pt>
                <c:pt idx="5">
                  <c:v>Paxtaobod</c:v>
                </c:pt>
                <c:pt idx="6">
                  <c:v>Andijon</c:v>
                </c:pt>
                <c:pt idx="7">
                  <c:v>Buloqboshi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7800</c:v>
                </c:pt>
                <c:pt idx="1">
                  <c:v>6618</c:v>
                </c:pt>
                <c:pt idx="2">
                  <c:v>6300</c:v>
                </c:pt>
                <c:pt idx="3">
                  <c:v>5650</c:v>
                </c:pt>
                <c:pt idx="4">
                  <c:v>4073</c:v>
                </c:pt>
                <c:pt idx="5">
                  <c:v>4450</c:v>
                </c:pt>
                <c:pt idx="6">
                  <c:v>2855</c:v>
                </c:pt>
                <c:pt idx="7">
                  <c:v>2214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Maydon</c:v>
                </c:pt>
              </c:strCache>
            </c:strRef>
          </c:tx>
          <c:spPr>
            <a:solidFill>
              <a:srgbClr val="2E75B6"/>
            </a:solidFill>
          </c:spPr>
          <c:dPt>
            <c:idx val="0"/>
            <c:spPr>
              <a:solidFill>
                <a:srgbClr val="C55A11"/>
              </a:solidFill>
            </c:spPr>
          </c:dPt>
          <c:cat>
            <c:strRef>
              <c:f>Sheet1!$A$2:$A$11</c:f>
              <c:strCache>
                <c:ptCount val="10"/>
                <c:pt idx="0">
                  <c:v>Texnik (gʻoʻza)</c:v>
                </c:pt>
                <c:pt idx="1">
                  <c:v>Bugʻdoy va boshqa donli</c:v>
                </c:pt>
                <c:pt idx="2">
                  <c:v>Sabzavot</c:v>
                </c:pt>
                <c:pt idx="3">
                  <c:v>Ozuqa (em-xashak)</c:v>
                </c:pt>
                <c:pt idx="4">
                  <c:v>Kartoshka</c:v>
                </c:pt>
                <c:pt idx="5">
                  <c:v>Moyli ekinlar</c:v>
                </c:pt>
                <c:pt idx="6">
                  <c:v>Dukkakli donli</c:v>
                </c:pt>
                <c:pt idx="7">
                  <c:v>Sholi</c:v>
                </c:pt>
                <c:pt idx="8">
                  <c:v>Poliz</c:v>
                </c:pt>
                <c:pt idx="9">
                  <c:v>Boshqalar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71.3</c:v>
                </c:pt>
                <c:pt idx="1">
                  <c:v>70.2</c:v>
                </c:pt>
                <c:pt idx="2">
                  <c:v>45.5</c:v>
                </c:pt>
                <c:pt idx="3">
                  <c:v>35.8</c:v>
                </c:pt>
                <c:pt idx="4">
                  <c:v>14.6</c:v>
                </c:pt>
                <c:pt idx="5">
                  <c:v>14.3</c:v>
                </c:pt>
                <c:pt idx="6">
                  <c:v>13.5</c:v>
                </c:pt>
                <c:pt idx="7">
                  <c:v>10.9</c:v>
                </c:pt>
                <c:pt idx="8">
                  <c:v>3.1</c:v>
                </c:pt>
                <c:pt idx="9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Maydon</c:v>
                </c:pt>
              </c:strCache>
            </c:strRef>
          </c:tx>
          <c:spPr>
            <a:solidFill>
              <a:srgbClr val="2E75B6"/>
            </a:solidFill>
          </c:spPr>
          <c:dPt>
            <c:idx val="0"/>
            <c:spPr>
              <a:solidFill>
                <a:srgbClr val="C55A11"/>
              </a:solidFill>
            </c:spPr>
          </c:dPt>
          <c:cat>
            <c:strRef>
              <c:f>Sheet1!$A$2:$A$4</c:f>
              <c:strCache>
                <c:ptCount val="3"/>
                <c:pt idx="0">
                  <c:v>Past (≤40 ball)</c:v>
                </c:pt>
                <c:pt idx="1">
                  <c:v>Oʻrta (41–60)</c:v>
                </c:pt>
                <c:pt idx="2">
                  <c:v>Yuqori (&gt;60)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5811</c:v>
                </c:pt>
                <c:pt idx="1">
                  <c:v>12771</c:v>
                </c:pt>
                <c:pt idx="2">
                  <c:v>2425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5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Suv</c:v>
                </c:pt>
              </c:strCache>
            </c:strRef>
          </c:tx>
          <c:spPr>
            <a:solidFill>
              <a:srgbClr val="2E75B6"/>
            </a:solidFill>
          </c:spPr>
          <c:dPt>
            <c:idx val="0"/>
            <c:spPr>
              <a:solidFill>
                <a:srgbClr val="C55A11"/>
              </a:solidFill>
            </c:spPr>
          </c:dPt>
          <c:cat>
            <c:strRef>
              <c:f>Sheet1!$A$2:$A$6</c:f>
              <c:strCache>
                <c:ptCount val="5"/>
                <c:pt idx="0">
                  <c:v>2019–20</c:v>
                </c:pt>
                <c:pt idx="1">
                  <c:v>2020–21</c:v>
                </c:pt>
                <c:pt idx="2">
                  <c:v>2021–22</c:v>
                </c:pt>
                <c:pt idx="3">
                  <c:v>2022–23</c:v>
                </c:pt>
                <c:pt idx="4">
                  <c:v>2023–24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3181.6</c:v>
                </c:pt>
                <c:pt idx="1">
                  <c:v>2366.1</c:v>
                </c:pt>
                <c:pt idx="2">
                  <c:v>2414.9</c:v>
                </c:pt>
                <c:pt idx="3">
                  <c:v>2414.9</c:v>
                </c:pt>
                <c:pt idx="4">
                  <c:v>2226.0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8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Rezaksoy</c:v>
                </c:pt>
              </c:strCache>
            </c:strRef>
          </c:tx>
          <c:spPr>
            <a:ln w="31750">
              <a:solidFill>
                <a:srgbClr val="2E75B6"/>
              </a:solidFill>
            </a:ln>
          </c:spPr>
          <c:marker>
            <c:spPr>
              <a:solidFill>
                <a:srgbClr val="2E75B6"/>
              </a:solidFill>
              <a:ln>
                <a:solidFill>
                  <a:srgbClr val="2E75B6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Yan</c:v>
                </c:pt>
                <c:pt idx="1">
                  <c:v>Fev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Iyn</c:v>
                </c:pt>
                <c:pt idx="6">
                  <c:v>Iyl</c:v>
                </c:pt>
                <c:pt idx="7">
                  <c:v>Avg</c:v>
                </c:pt>
                <c:pt idx="8">
                  <c:v>Sen</c:v>
                </c:pt>
                <c:pt idx="9">
                  <c:v>Okt</c:v>
                </c:pt>
                <c:pt idx="10">
                  <c:v>Noy</c:v>
                </c:pt>
                <c:pt idx="11">
                  <c:v>Dek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128.3</c:v>
                </c:pt>
                <c:pt idx="1">
                  <c:v>134.5</c:v>
                </c:pt>
                <c:pt idx="2">
                  <c:v>138.7</c:v>
                </c:pt>
                <c:pt idx="3">
                  <c:v>144.4</c:v>
                </c:pt>
                <c:pt idx="4">
                  <c:v>138.4</c:v>
                </c:pt>
                <c:pt idx="5">
                  <c:v>127.9</c:v>
                </c:pt>
                <c:pt idx="6">
                  <c:v>103.3</c:v>
                </c:pt>
                <c:pt idx="7">
                  <c:v>91.6</c:v>
                </c:pt>
                <c:pt idx="8">
                  <c:v>90.4</c:v>
                </c:pt>
                <c:pt idx="9">
                  <c:v>92.6</c:v>
                </c:pt>
                <c:pt idx="10">
                  <c:v>105.5</c:v>
                </c:pt>
                <c:pt idx="11">
                  <c:v>110.4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Kosonsoy</c:v>
                </c:pt>
              </c:strCache>
            </c:strRef>
          </c:tx>
          <c:spPr>
            <a:ln w="31750">
              <a:solidFill>
                <a:srgbClr val="C55A11"/>
              </a:solidFill>
            </a:ln>
          </c:spPr>
          <c:marker>
            <c:spPr>
              <a:solidFill>
                <a:srgbClr val="C55A11"/>
              </a:solidFill>
              <a:ln>
                <a:solidFill>
                  <a:srgbClr val="C55A1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Yan</c:v>
                </c:pt>
                <c:pt idx="1">
                  <c:v>Fev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Iyn</c:v>
                </c:pt>
                <c:pt idx="6">
                  <c:v>Iyl</c:v>
                </c:pt>
                <c:pt idx="7">
                  <c:v>Avg</c:v>
                </c:pt>
                <c:pt idx="8">
                  <c:v>Sen</c:v>
                </c:pt>
                <c:pt idx="9">
                  <c:v>Okt</c:v>
                </c:pt>
                <c:pt idx="10">
                  <c:v>Noy</c:v>
                </c:pt>
                <c:pt idx="11">
                  <c:v>Dek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71.2</c:v>
                </c:pt>
                <c:pt idx="1">
                  <c:v>77.8</c:v>
                </c:pt>
                <c:pt idx="2">
                  <c:v>62.6</c:v>
                </c:pt>
                <c:pt idx="3">
                  <c:v>71.5</c:v>
                </c:pt>
                <c:pt idx="4">
                  <c:v>88.1</c:v>
                </c:pt>
                <c:pt idx="5">
                  <c:v>80.1</c:v>
                </c:pt>
                <c:pt idx="6">
                  <c:v>47.6</c:v>
                </c:pt>
                <c:pt idx="7">
                  <c:v>27.4</c:v>
                </c:pt>
                <c:pt idx="8">
                  <c:v>24.1</c:v>
                </c:pt>
                <c:pt idx="9">
                  <c:v>18.0</c:v>
                </c:pt>
                <c:pt idx="10">
                  <c:v>15.9</c:v>
                </c:pt>
                <c:pt idx="11">
                  <c:v>20.7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2118791784"/>
        <c:crosses val="autoZero"/>
        <c:majorUnit val="40.0"/>
      </c:valAx>
    </c:plotArea>
    <c:legend>
      <c:legendPos val="t"/>
      <c:layout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Ulush</c:v>
                </c:pt>
              </c:strCache>
            </c:strRef>
          </c:tx>
          <c:spPr>
            <a:solidFill>
              <a:srgbClr val="2E75B6"/>
            </a:solidFill>
          </c:spPr>
          <c:dPt>
            <c:idx val="5"/>
            <c:spPr>
              <a:solidFill>
                <a:srgbClr val="C55A11"/>
              </a:solidFill>
            </c:spPr>
          </c:dPt>
          <c:dPt>
            <c:idx val="6"/>
            <c:spPr>
              <a:solidFill>
                <a:srgbClr val="C55A11"/>
              </a:solidFill>
            </c:spPr>
          </c:dPt>
          <c:dPt>
            <c:idx val="7"/>
            <c:spPr>
              <a:solidFill>
                <a:srgbClr val="C55A11"/>
              </a:solidFill>
            </c:spPr>
          </c:dPt>
          <c:cat>
            <c:strRef>
              <c:f>Sheet1!$A$2:$A$9</c:f>
              <c:strCache>
                <c:ptCount val="8"/>
                <c:pt idx="0">
                  <c:v>Nasos stansiyalari</c:v>
                </c:pt>
                <c:pt idx="1">
                  <c:v>Daryolar</c:v>
                </c:pt>
                <c:pt idx="2">
                  <c:v>Suv va sel omborlari</c:v>
                </c:pt>
                <c:pt idx="3">
                  <c:v>Tik quduqlar</c:v>
                </c:pt>
                <c:pt idx="4">
                  <c:v>Kanallar</c:v>
                </c:pt>
                <c:pt idx="5">
                  <c:v>Soylar</c:v>
                </c:pt>
                <c:pt idx="6">
                  <c:v>Kollektorlar (zovur)</c:v>
                </c:pt>
                <c:pt idx="7">
                  <c:v>Ichki zovurlar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93</c:v>
                </c:pt>
                <c:pt idx="2">
                  <c:v>81</c:v>
                </c:pt>
                <c:pt idx="3">
                  <c:v>64</c:v>
                </c:pt>
                <c:pt idx="4">
                  <c:v>62</c:v>
                </c:pt>
                <c:pt idx="5">
                  <c:v>32</c:v>
                </c:pt>
                <c:pt idx="6">
                  <c:v>27</c:v>
                </c:pt>
                <c:pt idx="7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Sheet1!$A$2:$A$15</c:f>
              <c:strCache>
                <c:ptCount val="14"/>
                <c:pt idx="0">
                  <c:v>Beshariq</c:v>
                </c:pt>
                <c:pt idx="1">
                  <c:v>Qoʻshtepa</c:v>
                </c:pt>
                <c:pt idx="2">
                  <c:v>Quva</c:v>
                </c:pt>
                <c:pt idx="3">
                  <c:v>Oltiariq</c:v>
                </c:pt>
                <c:pt idx="4">
                  <c:v>Dangʻara</c:v>
                </c:pt>
                <c:pt idx="5">
                  <c:v>Rishton</c:v>
                </c:pt>
                <c:pt idx="6">
                  <c:v>Fargʻona</c:v>
                </c:pt>
                <c:pt idx="7">
                  <c:v>Uchkoʻprik</c:v>
                </c:pt>
                <c:pt idx="8">
                  <c:v>Furqat</c:v>
                </c:pt>
                <c:pt idx="9">
                  <c:v>Yozyovon</c:v>
                </c:pt>
                <c:pt idx="10">
                  <c:v>Bogʻdod</c:v>
                </c:pt>
                <c:pt idx="11">
                  <c:v>Buvayda</c:v>
                </c:pt>
                <c:pt idx="12">
                  <c:v>Toshloq</c:v>
                </c:pt>
                <c:pt idx="13">
                  <c:v>Oʻzbekiston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7995</c:v>
                </c:pt>
                <c:pt idx="1">
                  <c:v>7240</c:v>
                </c:pt>
                <c:pt idx="2">
                  <c:v>6225</c:v>
                </c:pt>
                <c:pt idx="3">
                  <c:v>6220</c:v>
                </c:pt>
                <c:pt idx="4">
                  <c:v>6190</c:v>
                </c:pt>
                <c:pt idx="5">
                  <c:v>5950</c:v>
                </c:pt>
                <c:pt idx="6">
                  <c:v>5815</c:v>
                </c:pt>
                <c:pt idx="7">
                  <c:v>5720</c:v>
                </c:pt>
                <c:pt idx="8">
                  <c:v>5425</c:v>
                </c:pt>
                <c:pt idx="9">
                  <c:v>5210</c:v>
                </c:pt>
                <c:pt idx="10">
                  <c:v>5200</c:v>
                </c:pt>
                <c:pt idx="11">
                  <c:v>5120</c:v>
                </c:pt>
                <c:pt idx="12">
                  <c:v>5120</c:v>
                </c:pt>
                <c:pt idx="13">
                  <c:v>4650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Sheet1!$A$2:$A$15</c:f>
              <c:strCache>
                <c:ptCount val="14"/>
                <c:pt idx="0">
                  <c:v>Beshariq</c:v>
                </c:pt>
                <c:pt idx="1">
                  <c:v>Qoʻshtepa</c:v>
                </c:pt>
                <c:pt idx="2">
                  <c:v>Quva</c:v>
                </c:pt>
                <c:pt idx="3">
                  <c:v>Oltiariq</c:v>
                </c:pt>
                <c:pt idx="4">
                  <c:v>Dangʻara</c:v>
                </c:pt>
                <c:pt idx="5">
                  <c:v>Rishton</c:v>
                </c:pt>
                <c:pt idx="6">
                  <c:v>Fargʻona</c:v>
                </c:pt>
                <c:pt idx="7">
                  <c:v>Uchkoʻprik</c:v>
                </c:pt>
                <c:pt idx="8">
                  <c:v>Furqat</c:v>
                </c:pt>
                <c:pt idx="9">
                  <c:v>Yozyovon</c:v>
                </c:pt>
                <c:pt idx="10">
                  <c:v>Bogʻdod</c:v>
                </c:pt>
                <c:pt idx="11">
                  <c:v>Buvayda</c:v>
                </c:pt>
                <c:pt idx="12">
                  <c:v>Toshloq</c:v>
                </c:pt>
                <c:pt idx="13">
                  <c:v>Oʻzbekiston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7650</c:v>
                </c:pt>
                <c:pt idx="1">
                  <c:v>6890</c:v>
                </c:pt>
                <c:pt idx="2">
                  <c:v>5900</c:v>
                </c:pt>
                <c:pt idx="3">
                  <c:v>5920</c:v>
                </c:pt>
                <c:pt idx="4">
                  <c:v>5860</c:v>
                </c:pt>
                <c:pt idx="5">
                  <c:v>5700</c:v>
                </c:pt>
                <c:pt idx="6">
                  <c:v>5500</c:v>
                </c:pt>
                <c:pt idx="7">
                  <c:v>5451</c:v>
                </c:pt>
                <c:pt idx="8">
                  <c:v>5200</c:v>
                </c:pt>
                <c:pt idx="9">
                  <c:v>4900</c:v>
                </c:pt>
                <c:pt idx="10">
                  <c:v>4850</c:v>
                </c:pt>
                <c:pt idx="11">
                  <c:v>4800</c:v>
                </c:pt>
                <c:pt idx="12">
                  <c:v>4800</c:v>
                </c:pt>
                <c:pt idx="13">
                  <c:v>4400</c:v>
                </c:pt>
              </c:numCache>
            </c:numRef>
          </c:val>
        </c:ser>
        <c:gapWidth val="40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00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Kuchsiz shoʻrlangan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Sheet1!$A$2:$A$12</c:f>
              <c:strCache>
                <c:ptCount val="11"/>
                <c:pt idx="0">
                  <c:v>Beshariq</c:v>
                </c:pt>
                <c:pt idx="1">
                  <c:v>Dangʻara</c:v>
                </c:pt>
                <c:pt idx="2">
                  <c:v>Furqat</c:v>
                </c:pt>
                <c:pt idx="3">
                  <c:v>Buvayda</c:v>
                </c:pt>
                <c:pt idx="4">
                  <c:v>Qoʻshtepa</c:v>
                </c:pt>
                <c:pt idx="5">
                  <c:v>Bogʻdod</c:v>
                </c:pt>
                <c:pt idx="6">
                  <c:v>Rishton</c:v>
                </c:pt>
                <c:pt idx="7">
                  <c:v>Yozyovon</c:v>
                </c:pt>
                <c:pt idx="8">
                  <c:v>Uchkoʻprik</c:v>
                </c:pt>
                <c:pt idx="9">
                  <c:v>Oʻzbekiston</c:v>
                </c:pt>
                <c:pt idx="10">
                  <c:v>Oltiariq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3914</c:v>
                </c:pt>
                <c:pt idx="1">
                  <c:v>4782</c:v>
                </c:pt>
                <c:pt idx="2">
                  <c:v>4253</c:v>
                </c:pt>
                <c:pt idx="3">
                  <c:v>3483</c:v>
                </c:pt>
                <c:pt idx="4">
                  <c:v>1760</c:v>
                </c:pt>
                <c:pt idx="5">
                  <c:v>2770</c:v>
                </c:pt>
                <c:pt idx="6">
                  <c:v>1930</c:v>
                </c:pt>
                <c:pt idx="7">
                  <c:v>1777</c:v>
                </c:pt>
                <c:pt idx="8">
                  <c:v>1790</c:v>
                </c:pt>
                <c:pt idx="9">
                  <c:v>1611</c:v>
                </c:pt>
                <c:pt idx="10">
                  <c:v>848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Oʻrta shoʻrlangan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Sheet1!$A$2:$A$12</c:f>
              <c:strCache>
                <c:ptCount val="11"/>
                <c:pt idx="0">
                  <c:v>Beshariq</c:v>
                </c:pt>
                <c:pt idx="1">
                  <c:v>Dangʻara</c:v>
                </c:pt>
                <c:pt idx="2">
                  <c:v>Furqat</c:v>
                </c:pt>
                <c:pt idx="3">
                  <c:v>Buvayda</c:v>
                </c:pt>
                <c:pt idx="4">
                  <c:v>Qoʻshtepa</c:v>
                </c:pt>
                <c:pt idx="5">
                  <c:v>Bogʻdod</c:v>
                </c:pt>
                <c:pt idx="6">
                  <c:v>Rishton</c:v>
                </c:pt>
                <c:pt idx="7">
                  <c:v>Yozyovon</c:v>
                </c:pt>
                <c:pt idx="8">
                  <c:v>Uchkoʻprik</c:v>
                </c:pt>
                <c:pt idx="9">
                  <c:v>Oʻzbekiston</c:v>
                </c:pt>
                <c:pt idx="10">
                  <c:v>Oltiariq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1946</c:v>
                </c:pt>
                <c:pt idx="1">
                  <c:v>409</c:v>
                </c:pt>
                <c:pt idx="2">
                  <c:v>97</c:v>
                </c:pt>
                <c:pt idx="3">
                  <c:v>330</c:v>
                </c:pt>
                <c:pt idx="4">
                  <c:v>890</c:v>
                </c:pt>
                <c:pt idx="5">
                  <c:v>0</c:v>
                </c:pt>
                <c:pt idx="6">
                  <c:v>0</c:v>
                </c:pt>
                <c:pt idx="7">
                  <c:v>143</c:v>
                </c:pt>
                <c:pt idx="8">
                  <c:v>0</c:v>
                </c:pt>
                <c:pt idx="9">
                  <c:v>41</c:v>
                </c:pt>
                <c:pt idx="10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Kuchli shoʻrlangan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Sheet1!$A$2:$A$12</c:f>
              <c:strCache>
                <c:ptCount val="11"/>
                <c:pt idx="0">
                  <c:v>Beshariq</c:v>
                </c:pt>
                <c:pt idx="1">
                  <c:v>Dangʻara</c:v>
                </c:pt>
                <c:pt idx="2">
                  <c:v>Furqat</c:v>
                </c:pt>
                <c:pt idx="3">
                  <c:v>Buvayda</c:v>
                </c:pt>
                <c:pt idx="4">
                  <c:v>Qoʻshtepa</c:v>
                </c:pt>
                <c:pt idx="5">
                  <c:v>Bogʻdod</c:v>
                </c:pt>
                <c:pt idx="6">
                  <c:v>Rishton</c:v>
                </c:pt>
                <c:pt idx="7">
                  <c:v>Yozyovon</c:v>
                </c:pt>
                <c:pt idx="8">
                  <c:v>Uchkoʻprik</c:v>
                </c:pt>
                <c:pt idx="9">
                  <c:v>Oʻzbekiston</c:v>
                </c:pt>
                <c:pt idx="10">
                  <c:v>Oltiariq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109</c:v>
                </c:pt>
                <c:pt idx="2">
                  <c:v>88</c:v>
                </c:pt>
                <c:pt idx="3">
                  <c:v>0</c:v>
                </c:pt>
                <c:pt idx="4">
                  <c:v>122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0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Kuchsiz shoʻrlangan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Sheet1!$A$2:$A$4</c:f>
              <c:strCache>
                <c:ptCount val="3"/>
                <c:pt idx="0">
                  <c:v>Ulugʻnor</c:v>
                </c:pt>
                <c:pt idx="1">
                  <c:v>Baliqchi</c:v>
                </c:pt>
                <c:pt idx="2">
                  <c:v>Boʻston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2202</c:v>
                </c:pt>
                <c:pt idx="1">
                  <c:v>956</c:v>
                </c:pt>
                <c:pt idx="2">
                  <c:v>297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Oʻrta shoʻrlangan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Ulugʻnor</c:v>
                </c:pt>
                <c:pt idx="1">
                  <c:v>Baliqchi</c:v>
                </c:pt>
                <c:pt idx="2">
                  <c:v>Boʻston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1627</c:v>
                </c:pt>
                <c:pt idx="1">
                  <c:v>293</c:v>
                </c:pt>
                <c:pt idx="2">
                  <c:v>305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0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Reja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Sheet1!$A$2:$A$4</c:f>
              <c:strCache>
                <c:ptCount val="3"/>
                <c:pt idx="0">
                  <c:v>Mingbuloq</c:v>
                </c:pt>
                <c:pt idx="1">
                  <c:v>Pop</c:v>
                </c:pt>
                <c:pt idx="2">
                  <c:v>Toʻraqoʻrgʻon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17674.7</c:v>
                </c:pt>
                <c:pt idx="1">
                  <c:v>10466.1</c:v>
                </c:pt>
                <c:pt idx="2">
                  <c:v>257.9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Amalda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Mingbuloq</c:v>
                </c:pt>
                <c:pt idx="1">
                  <c:v>Pop</c:v>
                </c:pt>
                <c:pt idx="2">
                  <c:v>Toʻraqoʻrgʻon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17004.0</c:v>
                </c:pt>
                <c:pt idx="1">
                  <c:v>7160.8</c:v>
                </c:pt>
                <c:pt idx="2">
                  <c:v>246.0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Reja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Sheet1!$A$2:$A$15</c:f>
              <c:strCache>
                <c:ptCount val="14"/>
                <c:pt idx="0">
                  <c:v>Buvayda</c:v>
                </c:pt>
                <c:pt idx="1">
                  <c:v>Dangʻara</c:v>
                </c:pt>
                <c:pt idx="2">
                  <c:v>Furqat</c:v>
                </c:pt>
                <c:pt idx="3">
                  <c:v>Oʻzbekiston</c:v>
                </c:pt>
                <c:pt idx="4">
                  <c:v>Uchkoʻprik</c:v>
                </c:pt>
                <c:pt idx="5">
                  <c:v>Bogʻdod</c:v>
                </c:pt>
                <c:pt idx="6">
                  <c:v>Beshariq</c:v>
                </c:pt>
                <c:pt idx="7">
                  <c:v>Rishton</c:v>
                </c:pt>
                <c:pt idx="8">
                  <c:v>Yozyovon</c:v>
                </c:pt>
                <c:pt idx="9">
                  <c:v>Qoʻshtepa</c:v>
                </c:pt>
                <c:pt idx="10">
                  <c:v>Toshloq</c:v>
                </c:pt>
                <c:pt idx="11">
                  <c:v>Fargʻona</c:v>
                </c:pt>
                <c:pt idx="12">
                  <c:v>Oltiariq</c:v>
                </c:pt>
                <c:pt idx="13">
                  <c:v>Quva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4.7</c:v>
                </c:pt>
                <c:pt idx="1">
                  <c:v>4.0</c:v>
                </c:pt>
                <c:pt idx="2">
                  <c:v>3.0</c:v>
                </c:pt>
                <c:pt idx="3">
                  <c:v>1.5</c:v>
                </c:pt>
                <c:pt idx="4">
                  <c:v>2.4</c:v>
                </c:pt>
                <c:pt idx="5">
                  <c:v>3.5</c:v>
                </c:pt>
                <c:pt idx="6">
                  <c:v>5.2</c:v>
                </c:pt>
                <c:pt idx="7">
                  <c:v>2.2</c:v>
                </c:pt>
                <c:pt idx="8">
                  <c:v>2.0</c:v>
                </c:pt>
                <c:pt idx="9">
                  <c:v>2.7</c:v>
                </c:pt>
                <c:pt idx="10">
                  <c:v>0.2</c:v>
                </c:pt>
                <c:pt idx="11">
                  <c:v>0.6</c:v>
                </c:pt>
                <c:pt idx="12">
                  <c:v>1.2</c:v>
                </c:pt>
                <c:pt idx="13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Amalda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Sheet1!$A$2:$A$15</c:f>
              <c:strCache>
                <c:ptCount val="14"/>
                <c:pt idx="0">
                  <c:v>Buvayda</c:v>
                </c:pt>
                <c:pt idx="1">
                  <c:v>Dangʻara</c:v>
                </c:pt>
                <c:pt idx="2">
                  <c:v>Furqat</c:v>
                </c:pt>
                <c:pt idx="3">
                  <c:v>Oʻzbekiston</c:v>
                </c:pt>
                <c:pt idx="4">
                  <c:v>Uchkoʻprik</c:v>
                </c:pt>
                <c:pt idx="5">
                  <c:v>Bogʻdod</c:v>
                </c:pt>
                <c:pt idx="6">
                  <c:v>Beshariq</c:v>
                </c:pt>
                <c:pt idx="7">
                  <c:v>Rishton</c:v>
                </c:pt>
                <c:pt idx="8">
                  <c:v>Yozyovon</c:v>
                </c:pt>
                <c:pt idx="9">
                  <c:v>Qoʻshtepa</c:v>
                </c:pt>
                <c:pt idx="10">
                  <c:v>Toshloq</c:v>
                </c:pt>
                <c:pt idx="11">
                  <c:v>Fargʻona</c:v>
                </c:pt>
                <c:pt idx="12">
                  <c:v>Oltiariq</c:v>
                </c:pt>
                <c:pt idx="13">
                  <c:v>Quva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9.4</c:v>
                </c:pt>
                <c:pt idx="1">
                  <c:v>8.4</c:v>
                </c:pt>
                <c:pt idx="2">
                  <c:v>6.4</c:v>
                </c:pt>
                <c:pt idx="3">
                  <c:v>6.0</c:v>
                </c:pt>
                <c:pt idx="4">
                  <c:v>5.5</c:v>
                </c:pt>
                <c:pt idx="5">
                  <c:v>5.0</c:v>
                </c:pt>
                <c:pt idx="6">
                  <c:v>4.5</c:v>
                </c:pt>
                <c:pt idx="7">
                  <c:v>4.4</c:v>
                </c:pt>
                <c:pt idx="8">
                  <c:v>3.8</c:v>
                </c:pt>
                <c:pt idx="9">
                  <c:v>3.6</c:v>
                </c:pt>
                <c:pt idx="10">
                  <c:v>2.5</c:v>
                </c:pt>
                <c:pt idx="11">
                  <c:v>2.4</c:v>
                </c:pt>
                <c:pt idx="12">
                  <c:v>1.8</c:v>
                </c:pt>
                <c:pt idx="13">
                  <c:v>1.2</c:v>
                </c:pt>
              </c:numCache>
            </c:numRef>
          </c:val>
        </c:ser>
        <c:gapWidth val="40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Gʻoʻza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 (reja)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61.0</c:v>
                </c:pt>
                <c:pt idx="1">
                  <c:v>48.9</c:v>
                </c:pt>
                <c:pt idx="2">
                  <c:v>48.9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Bugʻdoy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 (reja)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68.0</c:v>
                </c:pt>
                <c:pt idx="1">
                  <c:v>66.0</c:v>
                </c:pt>
                <c:pt idx="2">
                  <c:v>64.4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Reja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Sheet1!$A$2:$A$6</c:f>
              <c:strCache>
                <c:ptCount val="5"/>
                <c:pt idx="0">
                  <c:v>Gumusi ≤1% yerlar unumdorligini oshirish</c:v>
                </c:pt>
                <c:pt idx="1">
                  <c:v>Oʻrmon mintaqalarini kengaytirish</c:v>
                </c:pt>
                <c:pt idx="2">
                  <c:v>Degradatsiyaga uchragan yerlar holatini yaxshilash</c:v>
                </c:pt>
                <c:pt idx="3">
                  <c:v>Ihotazor barpo qilish</c:v>
                </c:pt>
                <c:pt idx="4">
                  <c:v>Tuproq shoʻrlanishini kamaytirish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11.1</c:v>
                </c:pt>
                <c:pt idx="1">
                  <c:v>12.9</c:v>
                </c:pt>
                <c:pt idx="2">
                  <c:v>2.7</c:v>
                </c:pt>
                <c:pt idx="3">
                  <c:v>0.9</c:v>
                </c:pt>
                <c:pt idx="4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Amalda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Sheet1!$A$2:$A$6</c:f>
              <c:strCache>
                <c:ptCount val="5"/>
                <c:pt idx="0">
                  <c:v>Gumusi ≤1% yerlar unumdorligini oshirish</c:v>
                </c:pt>
                <c:pt idx="1">
                  <c:v>Oʻrmon mintaqalarini kengaytirish</c:v>
                </c:pt>
                <c:pt idx="2">
                  <c:v>Degradatsiyaga uchragan yerlar holatini yaxshilash</c:v>
                </c:pt>
                <c:pt idx="3">
                  <c:v>Ihotazor barpo qilish</c:v>
                </c:pt>
                <c:pt idx="4">
                  <c:v>Tuproq shoʻrlanishini kamaytirish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11.7</c:v>
                </c:pt>
                <c:pt idx="1">
                  <c:v>13.0</c:v>
                </c:pt>
                <c:pt idx="2">
                  <c:v>2.9</c:v>
                </c:pt>
                <c:pt idx="3">
                  <c:v>0.9</c:v>
                </c:pt>
                <c:pt idx="4">
                  <c:v>0.3</c:v>
                </c:pt>
              </c:numCache>
            </c:numRef>
          </c:val>
        </c:ser>
        <c:gapWidth val="40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Paxta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</c:v>
                </c:pt>
                <c:pt idx="1">
                  <c:v>0.48</c:v>
                </c:pt>
                <c:pt idx="2">
                  <c:v>0.64</c:v>
                </c:pt>
                <c:pt idx="3">
                  <c:v>0.57</c:v>
                </c:pt>
                <c:pt idx="4">
                  <c:v>0.61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Don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1.29</c:v>
                </c:pt>
                <c:pt idx="1">
                  <c:v>1.39</c:v>
                </c:pt>
                <c:pt idx="2">
                  <c:v>1.42</c:v>
                </c:pt>
                <c:pt idx="3">
                  <c:v>1.31</c:v>
                </c:pt>
                <c:pt idx="4">
                  <c:v>1.71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1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Ulush</c:v>
                </c:pt>
              </c:strCache>
            </c:strRef>
          </c:tx>
          <c:spPr>
            <a:solidFill>
              <a:srgbClr val="2E75B6"/>
            </a:solidFill>
          </c:spPr>
          <c:dPt>
            <c:idx val="0"/>
            <c:spPr>
              <a:solidFill>
                <a:srgbClr val="C55A11"/>
              </a:solidFill>
            </c:spPr>
          </c:dPt>
          <c:dPt>
            <c:idx val="9"/>
            <c:spPr>
              <a:solidFill>
                <a:srgbClr val="A9C4D1"/>
              </a:solidFill>
            </c:spPr>
          </c:dPt>
          <c:cat>
            <c:strRef>
              <c:f>Sheet1!$A$2:$A$11</c:f>
              <c:strCache>
                <c:ptCount val="10"/>
                <c:pt idx="0">
                  <c:v>Dangʻara</c:v>
                </c:pt>
                <c:pt idx="1">
                  <c:v>Uchkoʻprik</c:v>
                </c:pt>
                <c:pt idx="2">
                  <c:v>Yozyovon</c:v>
                </c:pt>
                <c:pt idx="3">
                  <c:v>Bogʻdod</c:v>
                </c:pt>
                <c:pt idx="4">
                  <c:v>Buvayda</c:v>
                </c:pt>
                <c:pt idx="5">
                  <c:v>Rishton</c:v>
                </c:pt>
                <c:pt idx="6">
                  <c:v>Qoʻshtepa</c:v>
                </c:pt>
                <c:pt idx="7">
                  <c:v>Oltiariq</c:v>
                </c:pt>
                <c:pt idx="8">
                  <c:v>Toshloq</c:v>
                </c:pt>
                <c:pt idx="9">
                  <c:v>Quva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64.0</c:v>
                </c:pt>
                <c:pt idx="1">
                  <c:v>57.3</c:v>
                </c:pt>
                <c:pt idx="2">
                  <c:v>56.8</c:v>
                </c:pt>
                <c:pt idx="3">
                  <c:v>53.3</c:v>
                </c:pt>
                <c:pt idx="4">
                  <c:v>53.0</c:v>
                </c:pt>
                <c:pt idx="5">
                  <c:v>46.7</c:v>
                </c:pt>
                <c:pt idx="6">
                  <c:v>40.0</c:v>
                </c:pt>
                <c:pt idx="7">
                  <c:v>33.5</c:v>
                </c:pt>
                <c:pt idx="8">
                  <c:v>24.6</c:v>
                </c:pt>
                <c:pt idx="9">
                  <c:v>17.2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Kuchsiz shoʻrlangan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Sheet1!$A$2:$A$4</c:f>
              <c:strCache>
                <c:ptCount val="3"/>
                <c:pt idx="0">
                  <c:v>2023–24</c:v>
                </c:pt>
                <c:pt idx="1">
                  <c:v>2024–25</c:v>
                </c:pt>
                <c:pt idx="2">
                  <c:v>2025–26 (reja)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23.0</c:v>
                </c:pt>
                <c:pt idx="1">
                  <c:v>28.9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Oʻrta shoʻrlangan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2023–24</c:v>
                </c:pt>
                <c:pt idx="1">
                  <c:v>2024–25</c:v>
                </c:pt>
                <c:pt idx="2">
                  <c:v>2025–26 (reja)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3.9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Kuchli shoʻrlangan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Sheet1!$A$2:$A$4</c:f>
              <c:strCache>
                <c:ptCount val="3"/>
                <c:pt idx="0">
                  <c:v>2023–24</c:v>
                </c:pt>
                <c:pt idx="1">
                  <c:v>2024–25</c:v>
                </c:pt>
                <c:pt idx="2">
                  <c:v>2025–26 (reja)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2.9</c:v>
                </c:pt>
                <c:pt idx="1">
                  <c:v>0.3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Tarkibi koʻrsatilmagan</c:v>
                </c:pt>
              </c:strCache>
            </c:strRef>
          </c:tx>
          <c:spPr>
            <a:solidFill>
              <a:srgbClr val="B5B2AD"/>
            </a:solidFill>
          </c:spPr>
          <c:cat>
            <c:strRef>
              <c:f>Sheet1!$A$2:$A$4</c:f>
              <c:strCache>
                <c:ptCount val="3"/>
                <c:pt idx="0">
                  <c:v>2023–24</c:v>
                </c:pt>
                <c:pt idx="1">
                  <c:v>2024–25</c:v>
                </c:pt>
                <c:pt idx="2">
                  <c:v>2025–26 (reja)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26.2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Gʻoʻza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(reja)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73.9</c:v>
                </c:pt>
                <c:pt idx="1">
                  <c:v>82.1</c:v>
                </c:pt>
                <c:pt idx="2">
                  <c:v>77.8</c:v>
                </c:pt>
                <c:pt idx="3">
                  <c:v>76.0</c:v>
                </c:pt>
                <c:pt idx="4">
                  <c:v>72.0</c:v>
                </c:pt>
                <c:pt idx="5">
                  <c:v>72.0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Donli ekinlar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(reja)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99.5</c:v>
                </c:pt>
                <c:pt idx="1">
                  <c:v>99.5</c:v>
                </c:pt>
                <c:pt idx="2">
                  <c:v>95.7</c:v>
                </c:pt>
                <c:pt idx="3">
                  <c:v>95.7</c:v>
                </c:pt>
                <c:pt idx="4">
                  <c:v>94.3</c:v>
                </c:pt>
                <c:pt idx="5">
                  <c:v>92.2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>
                  <a:solidFill>
                    <a:srgbClr val="00000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D9D2C3"/>
            </a:solidFill>
          </c:spPr>
          <c:cat>
            <c:strRef>
              <c:f>Sheet1!$A$2:$A$6</c:f>
              <c:strCache>
                <c:ptCount val="5"/>
                <c:pt idx="0">
                  <c:v>Karkidon</c:v>
                </c:pt>
                <c:pt idx="1">
                  <c:v>Rezaksoy</c:v>
                </c:pt>
                <c:pt idx="2">
                  <c:v>Kosonsoy</c:v>
                </c:pt>
                <c:pt idx="3">
                  <c:v>Chortoq</c:v>
                </c:pt>
                <c:pt idx="4">
                  <c:v>Jiydalisoy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110</c:v>
                </c:pt>
                <c:pt idx="2">
                  <c:v>73</c:v>
                </c:pt>
                <c:pt idx="3">
                  <c:v>28</c:v>
                </c:pt>
                <c:pt idx="4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Sheet1!$A$2:$A$6</c:f>
              <c:strCache>
                <c:ptCount val="5"/>
                <c:pt idx="0">
                  <c:v>Karkidon</c:v>
                </c:pt>
                <c:pt idx="1">
                  <c:v>Rezaksoy</c:v>
                </c:pt>
                <c:pt idx="2">
                  <c:v>Kosonsoy</c:v>
                </c:pt>
                <c:pt idx="3">
                  <c:v>Chortoq</c:v>
                </c:pt>
                <c:pt idx="4">
                  <c:v>Jiydalisoy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109</c:v>
                </c:pt>
                <c:pt idx="2">
                  <c:v>30</c:v>
                </c:pt>
                <c:pt idx="3">
                  <c:v>21</c:v>
                </c:pt>
                <c:pt idx="4">
                  <c:v>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6E9DB3"/>
            </a:solidFill>
          </c:spPr>
          <c:cat>
            <c:strRef>
              <c:f>Sheet1!$A$2:$A$6</c:f>
              <c:strCache>
                <c:ptCount val="5"/>
                <c:pt idx="0">
                  <c:v>Karkidon</c:v>
                </c:pt>
                <c:pt idx="1">
                  <c:v>Rezaksoy</c:v>
                </c:pt>
                <c:pt idx="2">
                  <c:v>Kosonsoy</c:v>
                </c:pt>
                <c:pt idx="3">
                  <c:v>Chortoq</c:v>
                </c:pt>
                <c:pt idx="4">
                  <c:v>Jiydalisoy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76</c:v>
                </c:pt>
                <c:pt idx="1">
                  <c:v>127</c:v>
                </c:pt>
                <c:pt idx="2">
                  <c:v>65</c:v>
                </c:pt>
                <c:pt idx="3">
                  <c:v>25</c:v>
                </c:pt>
                <c:pt idx="4">
                  <c:v>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Sheet1!$A$2:$A$6</c:f>
              <c:strCache>
                <c:ptCount val="5"/>
                <c:pt idx="0">
                  <c:v>Karkidon</c:v>
                </c:pt>
                <c:pt idx="1">
                  <c:v>Rezaksoy</c:v>
                </c:pt>
                <c:pt idx="2">
                  <c:v>Kosonsoy</c:v>
                </c:pt>
                <c:pt idx="3">
                  <c:v>Chortoq</c:v>
                </c:pt>
                <c:pt idx="4">
                  <c:v>Jiydalisoy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51.6</c:v>
                </c:pt>
                <c:pt idx="1">
                  <c:v>110.9</c:v>
                </c:pt>
                <c:pt idx="2">
                  <c:v>22.1</c:v>
                </c:pt>
                <c:pt idx="3">
                  <c:v>22.8</c:v>
                </c:pt>
                <c:pt idx="4">
                  <c:v>11.1</c:v>
                </c:pt>
              </c:numCache>
            </c:numRef>
          </c:val>
        </c:ser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262626"/>
                </a:solidFill>
                <a:latin typeface="Calibri"/>
              </a:defRPr>
            </a:pPr>
          </a:p>
        </c:txPr>
        <c:crossAx val="-2068027336"/>
        <c:crosses val="autoZero"/>
        <c:majorUnit val="35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262626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26262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Assalomu alaykum. Ilmiy ishim mavzusi: Gʻarbiy Fargʻonaning tuproq-meliorativ sharoitlari va oʻzgarishlarini GAT asosida bashoratlash. Quyida dissertatsiya rejasining mufassal loyihasini taqdim etaman.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Mavzuning dolzarbligini uch yoʻnalishda asoslayman: shoʻrlanish xavfi, suv tanqisligi va zamonaviy raqamli monitoringga ehtiyoj. Bu yerda tegishli davlat dasturi yoki farmonni aniq keltirish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Ilmiy muammoni bitta jumlada aytaman: hudud uchun baholash va bashoratni birlashtirgan GAT modeli yetishmaydi.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Maqsad bitta, unga erishish uchun olti vazifa qoʻyilgan. Har bir vazifa keyinchalik dissertatsiyaning muayyan paragrafiga mos keladi.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Obyekt — tuproqlarning oʻzi, predmet — ularning oʻzgarishi va bashorat usullari. Hudud chegarasini aniq tumanlar nomi bilan koʻrsatish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Ilmiy yangilikning toʻrt jihati: maʼlumotlar bazasi, kalibrlangan indekslar, qonuniyatlar va gibrid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holatlar dastlabki ilmiy faraz sifatida shakllantirilgan; aniqlik koʻrsatkichi tadqiqot natijalariga koʻra toʻldiriladi.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Tadqiqot besh turdagi maʼlumotga tayanadi: kosmik suratlar, relyef modeli, meliorativ kadastr, dala namunalari va meteorologik maʼlumotlar.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Jarayon besh bosqichdan iborat: maʼlumot yigʻishdan boshlab bashorat xaritalarigacha.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Dissertatsiya kirish, toʻrt bob, xulosa, adabiyotlar va ilovalardan iborat. Keyingi ikki slaydda boblar paragraflari keltirilgan.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bob nazariy va hududiy asos, ikkinchi bob — metodik 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Uchinchi bob — tahliliy, toʻrtinchi bob — bashorat va tavsiyalar. Asosiy ilmiy natijalar shu ikki bobda.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Natijalar ham ilmiy, ham amaliy tomondan foydali: maʼlumotlar bazasi va xaritalar suv xoʻjaligi tashkilotlari va fermerlar uchun ishlatilishi mumkin.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Ish uch yilga moʻljallangan; har bir yil yakunida aniq bob va nashr natijasi koʻzda tutilgan. Yillarni doktorantura muddatiga moslab tuzating.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Nashrlar soni ixtisoslik boʻyicha OAK talablariga koʻra belgilanadi; raqamlarni ilmiy rahbar bilan kelishib toʻldiring.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Savollaringizga javob berishga tayyorman.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D2A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50"/>
            <a:ext cx="10566400" cy="416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D2A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50"/>
            <a:ext cx="10566400" cy="416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>
            <p:ph type="title"/>
          </p:nvPr>
        </p:nvSpPr>
        <p:spPr>
          <a:xfrm>
            <a:off x="914400" y="260604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000" b="1" i="0" dirty="0" cap="all">
                <a:solidFill>
                  <a:srgbClr val="7030A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Gʻarbiy Fargʻonaning tuproq-meliorativ sharoitlari va oʻzgarishlarini GAT asosida bashoratlash</a:t>
            </a:r>
            <a:endParaRPr lang="en-US" sz="4000" dirty="0"/>
          </a:p>
        </p:txBody>
      </p:sp>
      <p:sp>
        <p:nvSpPr>
          <p:cNvPr id="5" name="University"/>
          <p:cNvSpPr txBox="1"/>
          <p:nvPr/>
        </p:nvSpPr>
        <p:spPr>
          <a:xfrm>
            <a:off x="914400" y="68580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02060"/>
                </a:solidFill>
                <a:latin typeface="Times New Roman"/>
              </a:rPr>
              <a:t>QOQON DAVLAT UNIVERSITETI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320040"/>
            <a:ext cx="1737360" cy="1737360"/>
          </a:xfrm>
          <a:prstGeom prst="rect">
            <a:avLst/>
          </a:prstGeom>
        </p:spPr>
      </p:pic>
      <p:sp>
        <p:nvSpPr>
          <p:cNvPr id="7" name="Student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548235"/>
                </a:solidFill>
                <a:latin typeface="Times New Roman"/>
              </a:rPr>
              <a:t>Nabiyeva Xadiyaxon</a:t>
            </a:r>
          </a:p>
        </p:txBody>
      </p:sp>
      <p:sp>
        <p:nvSpPr>
          <p:cNvPr id="8" name="Kicker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1">
                <a:solidFill>
                  <a:srgbClr val="5E3A1A"/>
                </a:solidFill>
                <a:latin typeface="Times New Roman"/>
              </a:rPr>
              <a:t>Tayanch doktorantura (PhD)ga qabul uchun ilmiy tadqiqot ishi taqdimoti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1">
                <a:solidFill>
                  <a:srgbClr val="5E3A1A"/>
                </a:solidFill>
                <a:latin typeface="Times New Roman"/>
              </a:rPr>
              <a:t>Ustuvor ixtisosliklar boʻyicha ilmiy ish mavzusi taqdimoti</a:t>
            </a:r>
          </a:p>
        </p:txBody>
      </p:sp>
      <p:sp>
        <p:nvSpPr>
          <p:cNvPr id="10" name="Supervisor"/>
          <p:cNvSpPr txBox="1"/>
          <p:nvPr/>
        </p:nvSpPr>
        <p:spPr>
          <a:xfrm>
            <a:off x="6675120" y="534924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1">
                <a:solidFill>
                  <a:srgbClr val="002060"/>
                </a:solidFill>
                <a:latin typeface="Times New Roman"/>
              </a:rPr>
              <a:t>Ilmiy rahbar:</a:t>
            </a:r>
          </a:p>
          <a:p>
            <a:pPr algn="r"/>
            <a:r>
              <a:rPr sz="1800" b="1" i="1">
                <a:solidFill>
                  <a:srgbClr val="002060"/>
                </a:solidFill>
                <a:latin typeface="Times New Roman"/>
              </a:rPr>
              <a:t>Geografiya fanlari doktori,</a:t>
            </a:r>
          </a:p>
          <a:p>
            <a:pPr algn="r"/>
            <a:r>
              <a:rPr sz="1800" b="1" i="1">
                <a:solidFill>
                  <a:srgbClr val="002060"/>
                </a:solidFill>
                <a:latin typeface="Times New Roman"/>
              </a:rPr>
              <a:t>Professor, g.f.d.; O.M. Qoʻziboyeva</a:t>
            </a:r>
          </a:p>
        </p:txBody>
      </p:sp>
      <p:sp>
        <p:nvSpPr>
          <p:cNvPr id="11" name="Speciality"/>
          <p:cNvSpPr txBox="1"/>
          <p:nvPr/>
        </p:nvSpPr>
        <p:spPr>
          <a:xfrm>
            <a:off x="640080" y="53492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1">
                <a:solidFill>
                  <a:srgbClr val="002060"/>
                </a:solidFill>
                <a:latin typeface="Times New Roman"/>
              </a:rPr>
              <a:t>Ixtisoslik: [shifr — nomi]</a:t>
            </a:r>
          </a:p>
          <a:p>
            <a:pPr algn="l"/>
            <a:r>
              <a:rPr sz="1800" b="1" i="1">
                <a:solidFill>
                  <a:srgbClr val="002060"/>
                </a:solidFill>
                <a:latin typeface="Times New Roman"/>
              </a:rPr>
              <a:t>Qabul shakli: tayanch doktorantura (PhD)</a:t>
            </a:r>
          </a:p>
        </p:txBody>
      </p:sp>
      <p:sp>
        <p:nvSpPr>
          <p:cNvPr id="12" name="Place and year"/>
          <p:cNvSpPr txBox="1"/>
          <p:nvPr/>
        </p:nvSpPr>
        <p:spPr>
          <a:xfrm>
            <a:off x="4114800" y="62179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Times New Roman"/>
              </a:rPr>
              <a:t>Qoʻqon-2026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DOLZARBLIK VA OʻRGANILGANLIK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Mavzuning dolzarbligi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718089"/>
            <a:ext cx="9156700" cy="1198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Sugʻoriladigan yerlarning meliorativ holati tez oʻzgaradi. Uni oʻz vaqtida baholash va oldindan bashorat qilish — yer va suv resurslaridan barqaror foydalanishning asosiy sharti.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15975" y="3336517"/>
            <a:ext cx="3380284" cy="2424202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73150" y="3836572"/>
            <a:ext cx="2951912" cy="33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Shoʻrlanish xavfi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3150" y="4271807"/>
            <a:ext cx="2951912" cy="90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Sizot suvlari sathi va minerallashuvining oʻzgarishi ikkilamchi shoʻrlanishni kuchaytiradi.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05809" y="3336517"/>
            <a:ext cx="3380333" cy="2424202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2984" y="3836572"/>
            <a:ext cx="2951963" cy="33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 tanqisligi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2984" y="4271807"/>
            <a:ext cx="2951963" cy="90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Cheklangan suv resurslari sharoitida har bir gektardan samarali foydalanish talab etiladi.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95692" y="3336517"/>
            <a:ext cx="3380333" cy="2424202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52867" y="3836572"/>
            <a:ext cx="2951963" cy="33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monitoring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52867" y="4271807"/>
            <a:ext cx="2951963" cy="119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Anʼanaviy dala kuzatuvlari keng hududni tez qamrab ololmaydi — GAT va masofadan zondlash bu boʻshliqni toʻldiradi.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900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 asos: PQ-277 (10.06.2022), PQ-5006 (24.02.2021), PF-130 (12.08.2025)</a:t>
            </a:r>
            <a:endParaRPr lang="en-US" sz="1500" dirty="0"/>
          </a:p>
        </p:txBody>
      </p:sp>
      <p:sp>
        <p:nvSpPr>
          <p:cNvPr id="18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DOLZARBLIK VA OʻRGANILGANLIK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Ilmiy muammo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tadqiqot aynan shu boʻshliqni toʻldirishga qaratilgan.</a:t>
            </a:r>
            <a:endParaRPr lang="en-US" sz="1800" dirty="0"/>
          </a:p>
        </p:txBody>
      </p:sp>
      <p:sp>
        <p:nvSpPr>
          <p:cNvPr id="5" name="Problem statement"/>
          <p:cNvSpPr/>
          <p:nvPr/>
        </p:nvSpPr>
        <p:spPr>
          <a:xfrm>
            <a:off x="1188720" y="1737360"/>
            <a:ext cx="97840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/>
            <a:r>
              <a:rPr sz="3000" b="1">
                <a:solidFill>
                  <a:srgbClr val="000000"/>
                </a:solidFill>
                <a:latin typeface="Times New Roman"/>
              </a:rPr>
              <a:t>Gʻarbiy Fargʻona uchun tuproq-meliorativ holatning fazoviy-vaqtli oʻzgarishini yagona tizimda baholovchi va kelajakka bashorat qiluvchi GAT modeli hali yetarli darajada ishlab chiqilmagan.</a:t>
            </a:r>
          </a:p>
        </p:txBody>
      </p:sp>
      <p:sp>
        <p:nvSpPr>
          <p:cNvPr id="6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 VA VAZIFALAR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Maqsad va vazifalar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648510"/>
            <a:ext cx="3810000" cy="4080959"/>
          </a:xfrm>
          <a:prstGeom prst="roundRect">
            <a:avLst>
              <a:gd name="adj" fmla="val 3063"/>
            </a:avLst>
          </a:prstGeom>
          <a:solidFill>
            <a:srgbClr val="FFFFFF"/>
          </a:solidFill>
          <a:ln w="28575">
            <a:solidFill>
              <a:srgbClr val="548235"/>
            </a:solidFill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17600" y="2023512"/>
            <a:ext cx="3296412" cy="293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5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7600" y="2473467"/>
            <a:ext cx="3296412" cy="232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Gʻarbiy Fargʻona tuproqlarining meliorativ holatini GAT va masofadan zondlash maʼlumotlari asosida baholash, oʻzgarish qonuniyatlarini aniqlash va [2030–2035]-yillarga bashorat modelini ishlab chiqish.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648510"/>
            <a:ext cx="6540500" cy="293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VAZIFALAR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2051589"/>
            <a:ext cx="330200" cy="33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35600" y="2051589"/>
            <a:ext cx="6756400" cy="33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Hududning tabiiy-meliorativ sharoitlari va tuproq qoplamini tahlil qilish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2498430"/>
            <a:ext cx="330200" cy="62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35600" y="2498430"/>
            <a:ext cx="6121908" cy="62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Koʻp yillik kosmik suratlar va meliorativ kadastr maʼlumotlarining GAT bazasini yaratish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3229636"/>
            <a:ext cx="330200" cy="62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35600" y="3229636"/>
            <a:ext cx="6121908" cy="62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Shoʻrlanish, sizot suvlari sathi va minerallashuvining fazoviy-vaqtli dinamikasini aniqlash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0" y="3960843"/>
            <a:ext cx="330200" cy="33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35600" y="3960843"/>
            <a:ext cx="6121908" cy="33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Meliorativ holatga taʼsir etuvchi omillarni statistik baholash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0" y="4407684"/>
            <a:ext cx="330200" cy="62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35600" y="4407684"/>
            <a:ext cx="6121908" cy="62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Bashorat modelini (CA–Markov, mashinali oʻqitish) qurish va aniqligini tekshirish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0" y="5138890"/>
            <a:ext cx="330200" cy="62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35600" y="5138890"/>
            <a:ext cx="6121908" cy="621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Meliorativ holatni yaxshilash boʻyicha xaritalar va tavsiyalar ishlab chiqish</a:t>
            </a:r>
            <a:endParaRPr lang="en-US" sz="1700" dirty="0"/>
          </a:p>
        </p:txBody>
      </p:sp>
      <p:sp>
        <p:nvSpPr>
          <p:cNvPr id="20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OBYEKT, PREDMET VA QAMROV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Obyekt, predmet va qamrov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762102"/>
            <a:ext cx="3380284" cy="3998617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8550" y="2164884"/>
            <a:ext cx="2899588" cy="745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3200" dirty="0">
                <a:solidFill>
                  <a:srgbClr val="2E75B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8550" y="3055517"/>
            <a:ext cx="2899588" cy="38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 obyekti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8550" y="3584099"/>
            <a:ext cx="2899588" cy="1100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Gʻarbiy Fargʻonaning sugʻoriladigan tuproqlari va ularning meliorativ holati.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05809" y="1762102"/>
            <a:ext cx="3380333" cy="3998617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88384" y="2164884"/>
            <a:ext cx="2899639" cy="745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3200" dirty="0">
                <a:solidFill>
                  <a:srgbClr val="2E75B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88384" y="3055517"/>
            <a:ext cx="2899639" cy="38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 predmeti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88384" y="3584099"/>
            <a:ext cx="2899639" cy="181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Shoʻrlanish, sizot suvlari sathi va minerallashuvining fazoviy-vaqtli oʻzgarishi hamda ularni GAT asosida modellashtirish va bashoratlash usullari.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95692" y="1762102"/>
            <a:ext cx="3380333" cy="3998617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78267" y="2164884"/>
            <a:ext cx="2899639" cy="745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3200" dirty="0">
                <a:solidFill>
                  <a:srgbClr val="2E75B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78267" y="3055517"/>
            <a:ext cx="2899639" cy="38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 qamrovi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78267" y="3584099"/>
            <a:ext cx="2899639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Hudud: Fargʻona vodiysining gʻarbiy qismi [viloyat va tumanlar]. Vaqt: [2000–2025] tahlil, [2030–2035] bashorat. Maʼlumotlar: kosmik suratlar, DEM, meliorativ kadastr, dala namunalari.</a:t>
            </a:r>
            <a:endParaRPr lang="en-US" sz="1700" dirty="0"/>
          </a:p>
        </p:txBody>
      </p:sp>
      <p:sp>
        <p:nvSpPr>
          <p:cNvPr id="16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9</a:t>
            </a:r>
          </a:p>
        </p:txBody>
      </p:sp>
      <p:sp>
        <p:nvSpPr>
          <p:cNvPr id="4" name="Text 2"/>
          <p:cNvSpPr/>
          <p:nvPr/>
        </p:nvSpPr>
        <p:spPr>
          <a:xfrm>
            <a:off x="812800" y="5950000"/>
            <a:ext cx="1088339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Predmet obyektning meliorativ holatini belgilovchi xususiyatlarni oʻrganadi; obyekt va predmet maqsad hamda vazifalarga mos.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OʻRGANILGANLIK DARAJASI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Oʻrganilganlik darajasi: Markaziy Fargʻona</a:t>
            </a:r>
            <a:endParaRPr lang="en-US" sz="3400" dirty="0"/>
          </a:p>
        </p:txBody>
      </p:sp>
      <p:sp>
        <p:nvSpPr>
          <p:cNvPr id="7" name="Rounded Rectangle 6"/>
          <p:cNvSpPr/>
          <p:nvPr/>
        </p:nvSpPr>
        <p:spPr>
          <a:xfrm>
            <a:off x="812800" y="155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2800" y="172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C55A11"/>
                </a:solidFill>
                <a:latin typeface="Times New Roman"/>
              </a:rPr>
              <a:t>0,86–0,96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800" y="233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Gumus miqdori bilan gʻoʻza hosildorligi orasidagi korrelyatsiya (r): oʻtloqi 0,92, oʻtloqi-saz 0,96, choʻl-oʻtloqi 0,86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4496" y="155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496" y="172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2E75B6"/>
                </a:solidFill>
                <a:latin typeface="Times New Roman"/>
              </a:rPr>
              <a:t>1,5–2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496" y="233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Qoʻshtepa tumanida botqoq-oʻtloqi tuproqlarda sizot suvlari sathi pasaygan va tuproqlar oʻtloqi tomon oʻzgargan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343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2800" y="360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2E75B6"/>
                </a:solidFill>
                <a:latin typeface="Times New Roman"/>
              </a:rPr>
              <a:t>1999 →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2800" y="421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Choʻl-oʻtloqi tuproqlarda gumus 0,19–0,51% dan 0,39–0,92% gacha oshgan; bonitet 1,0–4,7 ballga yaxshilangan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4496" y="343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496" y="360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C55A11"/>
                </a:solidFill>
                <a:latin typeface="Times New Roman"/>
              </a:rPr>
              <a:t>96,7–199,9 t/ga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496" y="421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Tuproqning 0–1 m qatlamida tuzlar zahirasi; 1:10 000 miqyosli shoʻrlanish kartogrammalari tuzilgan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5425680"/>
            <a:ext cx="108833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Fargʻona viloyati misolida; ish GAT texnologiyalari asosida gipsli tuproqlar xaritasi loyihasi doirasida bajarilgan.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M.K.Pulatov, PhD avtoreferati (Markaziy Fargʻona tuproqlari), Toshkent, 2025</a:t>
            </a:r>
          </a:p>
        </p:txBody>
      </p:sp>
      <p:sp>
        <p:nvSpPr>
          <p:cNvPr id="21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 VA IXTISOSLIK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Ustuvor yoʻnalishga muvofiqlik</a:t>
            </a:r>
            <a:endParaRPr lang="en-US" sz="3400" dirty="0"/>
          </a:p>
        </p:txBody>
      </p:sp>
      <p:sp>
        <p:nvSpPr>
          <p:cNvPr id="7" name="Rounded Rectangle 6"/>
          <p:cNvSpPr/>
          <p:nvPr/>
        </p:nvSpPr>
        <p:spPr>
          <a:xfrm>
            <a:off x="812800" y="1675680"/>
            <a:ext cx="3461130" cy="2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2800" y="1875680"/>
            <a:ext cx="296113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Calibri"/>
              </a:rPr>
              <a:t>Ilmiy yoʻnalish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800" y="2325680"/>
            <a:ext cx="2961130" cy="1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[ixtisoslik shifri — nomi]: tuproqshunoslik, melioratsiya va geoaxborot tizimlari (GAT) asosida bashoratlash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3930" y="1675680"/>
            <a:ext cx="3461130" cy="2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930" y="1875680"/>
            <a:ext cx="296113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Calibri"/>
              </a:rPr>
              <a:t>Ustuvor yoʻnalish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930" y="2325680"/>
            <a:ext cx="2961130" cy="1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[Qishloq xoʻjaligi, ekologiya va atrof-muhit muhofazasi — ilmiy kengash roʻyxati boʻyicha tasdiqlang]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5060" y="1675680"/>
            <a:ext cx="3461130" cy="2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060" y="1875680"/>
            <a:ext cx="296113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Calibri"/>
              </a:rPr>
              <a:t>Hal etiladigan muammo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060" y="2325680"/>
            <a:ext cx="2961130" cy="1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Sugʻoriladigan yerlar meliorativ holatini oldindan baholash va yer-suv resurslaridan barqaror foydalanish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975680"/>
            <a:ext cx="10883392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Calibri"/>
              </a:rPr>
              <a:t>NORMATIV ASOS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4375680"/>
            <a:ext cx="2608348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Calibri"/>
              </a:rPr>
              <a:t>PQ-277 (10.06.2022)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4725680"/>
            <a:ext cx="2608348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Yerlar degradatsiyasiga qarshi kurashishning samarali tizimini yaratish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1148" y="4375680"/>
            <a:ext cx="2608348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Calibri"/>
              </a:rPr>
              <a:t>PQ-5006 (24.02.2021)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1148" y="4725680"/>
            <a:ext cx="2608348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Qishloq xoʻjaligiga moʻljallangan yerlardan foydalanish va muhofaza qilish tizimini takomillashtirish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9496" y="4375680"/>
            <a:ext cx="2608348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Calibri"/>
              </a:rPr>
              <a:t>PF-130 (12.08.2025)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9496" y="4725680"/>
            <a:ext cx="2608348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Qishloq xoʻjaligida zamonaviy (raqamli) texnologiyalarni joriy etishni jadallashtirish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7844" y="4375680"/>
            <a:ext cx="2608348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Calibri"/>
              </a:rPr>
              <a:t>PF-5853 (23.10.2019)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7844" y="4725680"/>
            <a:ext cx="2608348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Qishloq xoʻjaligini rivojlantirishning 2020–2030 yillarga moʻljallangan strategiyasi</a:t>
            </a:r>
          </a:p>
        </p:txBody>
      </p:sp>
      <p:sp>
        <p:nvSpPr>
          <p:cNvPr id="25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METODOLOGIYA VA USULLAR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Maʼlumotlar manbalari va dasturlar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67130"/>
          <a:ext cx="10553700" cy="3509962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Manba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Mazmuni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Qoʻllanilishi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Landsat 5/7/8/9, Sentinel-2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Koʻp spektrli kosmik suratlar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Shoʻrlanish va oʻsimlik indekslari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SRTM / ALOS DEM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Relyefning raqamli modeli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Nishablik, oqim, TWI indeksi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Meliorativ kadastr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Sizot suvlari, minerallashuv, shoʻr yuvish maydoni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Interpolyatsiya, validatsiya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Dala namunalari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EC, tuz tarkibi, granulometriya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Kalibrlash va aniqlikni baholash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Meteorologik maʼlumotlar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Harorat, yogʻin, bugʻlanish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Omillar tahlili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Viloyat statistik hisobotlari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Shoʻrlanish, hosildorlik, suv olish, shoʻr yuvish, suv omborlari, zovur tarmogʻi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Dinamika va omillar tahlili, suv balansi, kalibrlash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Ekin joylashtirish rejalari (2022–2026)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Tuman va kontur kesimida ekin maydonlari, tuproq bonitet ballari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Kontur asosida GAT qatlami, ekin–tuproq bogʻliqligi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165412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Dasturiy taʼminot: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ArcGIS Pro, QGIS, Google Earth Engine, SNAP, Python (scikit-learn), TerrSet (CA–Markov)</a:t>
            </a:r>
            <a:endParaRPr lang="en-US" sz="1600" dirty="0"/>
          </a:p>
        </p:txBody>
      </p:sp>
      <p:sp>
        <p:nvSpPr>
          <p:cNvPr id="6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METODOLOGIYA VA USULLAR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Tadqiqot usullari va jarayoni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759796"/>
            <a:ext cx="1808460" cy="3071671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90600" y="2069546"/>
            <a:ext cx="1503660" cy="393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90600" y="2572394"/>
            <a:ext cx="1503660" cy="3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Yigʻish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3046131"/>
            <a:ext cx="1503660" cy="126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Kosmik suratlar, DEM, meliorativ kadastr, dala namunalari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97460" y="3066059"/>
            <a:ext cx="279400" cy="495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002260" y="1759796"/>
            <a:ext cx="1808510" cy="3071671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80060" y="2069546"/>
            <a:ext cx="1503710" cy="393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180060" y="2572394"/>
            <a:ext cx="1503710" cy="3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Ishlov berish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80060" y="3046131"/>
            <a:ext cx="1503710" cy="126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Radiometrik va atmosfera tuzatish, geometrik moslashtirish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86970" y="3066059"/>
            <a:ext cx="279400" cy="495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191770" y="1759796"/>
            <a:ext cx="1808460" cy="3071671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69570" y="2069546"/>
            <a:ext cx="1503660" cy="393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69570" y="2572394"/>
            <a:ext cx="1503660" cy="3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tahlili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69570" y="3046131"/>
            <a:ext cx="1503660" cy="126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SI, NDSI, NDVI indekslari; kriging va IDW interpolyatsiya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76430" y="3066059"/>
            <a:ext cx="279400" cy="495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381230" y="1759796"/>
            <a:ext cx="1808510" cy="3071671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559030" y="2069546"/>
            <a:ext cx="1503710" cy="393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59030" y="2572394"/>
            <a:ext cx="1503710" cy="3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Modellash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59030" y="3046131"/>
            <a:ext cx="1503710" cy="156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Regressiya, Random Forest, CA–Markov; Kappa va RMSE bilan tekshirish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65940" y="3066059"/>
            <a:ext cx="279400" cy="495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570740" y="1759796"/>
            <a:ext cx="1808460" cy="3071671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28575">
            <a:solidFill>
              <a:srgbClr val="548235"/>
            </a:solidFill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748540" y="2069546"/>
            <a:ext cx="1503660" cy="393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48540" y="2572394"/>
            <a:ext cx="1503660" cy="3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Bashorat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48540" y="3046131"/>
            <a:ext cx="1503660" cy="954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[2030–2035] ssenariylari, xaritalar, tavsiyalar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2800" y="5341645"/>
            <a:ext cx="9156700" cy="419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— hudud boʻyicha meliorativ holatning hozirgi va kelajakdagi xaritalari. Bosqichlar vazifalarga mos: 1–2-bosqich — 1–2-vazifa; 3 — 3–4; 4 — 5; 5 — 6.</a:t>
            </a:r>
            <a:endParaRPr lang="en-US" sz="1800" dirty="0"/>
          </a:p>
        </p:txBody>
      </p:sp>
      <p:sp>
        <p:nvSpPr>
          <p:cNvPr id="34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DISSERTATSIYA TUZILISHI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Dissertatsiya tarkibi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703947"/>
            <a:ext cx="3397250" cy="1849636"/>
          </a:xfrm>
          <a:prstGeom prst="roundRect">
            <a:avLst>
              <a:gd name="adj" fmla="val 7982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2051610"/>
            <a:ext cx="3021711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2485891"/>
            <a:ext cx="3021711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Dolzarblik, maqsad va vazifalar, ilmiy yangilik, amaliy ahamiyat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97375" y="1703947"/>
            <a:ext cx="3397250" cy="1849636"/>
          </a:xfrm>
          <a:prstGeom prst="roundRect">
            <a:avLst>
              <a:gd name="adj" fmla="val 7982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29150" y="2051610"/>
            <a:ext cx="3021711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BOB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29150" y="2485891"/>
            <a:ext cx="3021711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Tabiiy-meliorativ sharoitlar va oʻrganilganlik darajasi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78775" y="1703947"/>
            <a:ext cx="3397250" cy="1849636"/>
          </a:xfrm>
          <a:prstGeom prst="roundRect">
            <a:avLst>
              <a:gd name="adj" fmla="val 7982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10550" y="2051610"/>
            <a:ext cx="3021711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BOB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0550" y="2485891"/>
            <a:ext cx="3021711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 maʼlumotlari va usullari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5975" y="3829808"/>
            <a:ext cx="3397250" cy="1849636"/>
          </a:xfrm>
          <a:prstGeom prst="roundRect">
            <a:avLst>
              <a:gd name="adj" fmla="val 7982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4177471"/>
            <a:ext cx="3021711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BOB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7750" y="4611751"/>
            <a:ext cx="3021711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Tuproq-meliorativ sharoitlarning fazoviy-vaqtli oʻzgarishi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97375" y="3829808"/>
            <a:ext cx="3397250" cy="1849636"/>
          </a:xfrm>
          <a:prstGeom prst="roundRect">
            <a:avLst>
              <a:gd name="adj" fmla="val 7982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29150" y="4177471"/>
            <a:ext cx="3021711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BOB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29150" y="4611751"/>
            <a:ext cx="3021711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Tuproq-meliorativ oʻzgarishlarni GAT asosida bashoratlash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975600" y="3825046"/>
            <a:ext cx="3403600" cy="1859161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28575">
            <a:solidFill>
              <a:srgbClr val="548235"/>
            </a:solidFill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04200" y="4167946"/>
            <a:ext cx="3034792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04200" y="4602226"/>
            <a:ext cx="3034792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Xulosalar, tavsiyalar, adabiyotlar roʻyxati va ilovalar</a:t>
            </a:r>
            <a:endParaRPr lang="en-US" sz="1700" dirty="0"/>
          </a:p>
        </p:txBody>
      </p:sp>
      <p:sp>
        <p:nvSpPr>
          <p:cNvPr id="22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DISSERTATSIYA TUZILISHI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I va II boblar mazmuni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675485"/>
            <a:ext cx="5124450" cy="4085234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8550" y="2057259"/>
            <a:ext cx="4696079" cy="322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BOB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8550" y="2499893"/>
            <a:ext cx="4696079" cy="73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Gʻarbiy Fargʻonaning tabiiy-meliorativ sharoitlari va oʻrganilganlik darajasi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8550" y="3354325"/>
            <a:ext cx="406400" cy="65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1150" y="3354325"/>
            <a:ext cx="4199001" cy="65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Tuproq-meliorativ tadqiqotlar tarixi va oʻrganilganlik holati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8550" y="4133288"/>
            <a:ext cx="406400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81150" y="4133288"/>
            <a:ext cx="4356100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Geologik-geomorfologik va gidrogeologik sharoitlar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8550" y="4599983"/>
            <a:ext cx="406400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81150" y="4599983"/>
            <a:ext cx="4199001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Iqlim va gidrografiya omillari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8550" y="5066677"/>
            <a:ext cx="406400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1150" y="5066677"/>
            <a:ext cx="4199001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Tuproq qoplami va sugʻorish-drenaj tizimi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51575" y="1675485"/>
            <a:ext cx="5124450" cy="4085234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34150" y="2057259"/>
            <a:ext cx="4696079" cy="322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BOB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4150" y="2499893"/>
            <a:ext cx="4696079" cy="38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Tadqiqot maʼlumotlari va usullari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4150" y="3004322"/>
            <a:ext cx="406400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16750" y="3004322"/>
            <a:ext cx="4199001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 tadqiqotlari va laboratoriya tahlil usullari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4150" y="3471016"/>
            <a:ext cx="406400" cy="65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16750" y="3471016"/>
            <a:ext cx="4199001" cy="65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Masofadan zondlash maʼlumotlari va ularga dastlabki ishlov berish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4150" y="4249979"/>
            <a:ext cx="406400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6750" y="4249979"/>
            <a:ext cx="4199001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maʼlumotlar bazasini shakllantirish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4150" y="4716673"/>
            <a:ext cx="406400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16750" y="4716673"/>
            <a:ext cx="4199001" cy="346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Fazoviy statistika va bashoratlash modellari</a:t>
            </a:r>
            <a:endParaRPr lang="en-US" sz="1600" dirty="0"/>
          </a:p>
        </p:txBody>
      </p:sp>
      <p:sp>
        <p:nvSpPr>
          <p:cNvPr id="26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DISSERTATSIYA TUZILISHI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III va IV boblar mazmuni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695188"/>
            <a:ext cx="5124450" cy="4060914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8550" y="2106099"/>
            <a:ext cx="4696079" cy="34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BOB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8550" y="2582513"/>
            <a:ext cx="4696079" cy="79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Tuproq-meliorativ sharoitlarning fazoviy-vaqtli oʻzgarishi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8550" y="3502156"/>
            <a:ext cx="406400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1150" y="3502156"/>
            <a:ext cx="4356100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Tuproq shoʻrlanishi dinamikasi ([2000–2025] yillar)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8550" y="4004468"/>
            <a:ext cx="406400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81150" y="4004468"/>
            <a:ext cx="4199001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Sizot suvlari sathi va minerallashuvining oʻzgarishi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8550" y="4506779"/>
            <a:ext cx="406400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81150" y="4506779"/>
            <a:ext cx="4199001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Meliorativ holatga taʼsir etuvchi omillar tahlili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8550" y="5009091"/>
            <a:ext cx="406400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1150" y="5009091"/>
            <a:ext cx="4199001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Hududni meliorativ rayonlashtirish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8400" y="1690571"/>
            <a:ext cx="5130800" cy="4070148"/>
          </a:xfrm>
          <a:prstGeom prst="roundRect">
            <a:avLst>
              <a:gd name="adj" fmla="val 3630"/>
            </a:avLst>
          </a:prstGeom>
          <a:solidFill>
            <a:srgbClr val="FFFFFF"/>
          </a:solidFill>
          <a:ln w="28575">
            <a:solidFill>
              <a:srgbClr val="548235"/>
            </a:solidFill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27800" y="2096865"/>
            <a:ext cx="4709160" cy="34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BOB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27800" y="2573279"/>
            <a:ext cx="4709160" cy="79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Tuproq-meliorativ oʻzgarishlarni GAT asosida bashoratlash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27800" y="3492922"/>
            <a:ext cx="406400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10400" y="3492922"/>
            <a:ext cx="4212082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Bashorat modelini ishlab chiqish va kalibrlash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27800" y="3995234"/>
            <a:ext cx="406400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10400" y="3995234"/>
            <a:ext cx="4212082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aniqligini baholash (Kappa, RMSE, R²)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27800" y="4497545"/>
            <a:ext cx="406400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0400" y="4497545"/>
            <a:ext cx="4212082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[2030–2035]-yillar uchun bashorat ssenariylari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27800" y="4999857"/>
            <a:ext cx="406400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10400" y="4999857"/>
            <a:ext cx="4212082" cy="373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Meliorativ holatni yaxshilash boʻyicha tavsiyalar</a:t>
            </a:r>
            <a:endParaRPr lang="en-US" sz="1600" dirty="0"/>
          </a:p>
        </p:txBody>
      </p:sp>
      <p:sp>
        <p:nvSpPr>
          <p:cNvPr id="26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GʻOYA VA ILMIY AHAMIYAT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Gʻoya va kutilayotgan ilmiy ahamiyati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775385"/>
            <a:ext cx="5181600" cy="1882006"/>
          </a:xfrm>
          <a:prstGeom prst="roundRect">
            <a:avLst>
              <a:gd name="adj" fmla="val 8098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66800" y="2156385"/>
            <a:ext cx="406400" cy="115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C55A11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00200" y="2156385"/>
            <a:ext cx="4264406" cy="115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Gʻoya: tuproq-meliorativ holatni koʻp yillik GAT bazasi va masofadan zondlash asosida yagona tizimda baholash va bashoratlash.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97600" y="1775385"/>
            <a:ext cx="5181600" cy="1882006"/>
          </a:xfrm>
          <a:prstGeom prst="roundRect">
            <a:avLst>
              <a:gd name="adj" fmla="val 8098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51600" y="2156385"/>
            <a:ext cx="406400" cy="115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C55A11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985000" y="2156385"/>
            <a:ext cx="4264406" cy="115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Tekshiriladigan masala: spektral shoʻrlanish indekslari (SI, NDSI) dala tahlillari bilan hudud sharoitida kalibrlanishi.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2800" y="3962191"/>
            <a:ext cx="5181600" cy="1508670"/>
          </a:xfrm>
          <a:prstGeom prst="roundRect">
            <a:avLst>
              <a:gd name="adj" fmla="val 10102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66800" y="4343191"/>
            <a:ext cx="406400" cy="78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C55A11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00200" y="4343191"/>
            <a:ext cx="4264406" cy="78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tadqiqotlardan farqi: bir vaqtdagi baholash emas, koʻp yillik dinamika va kelajak bashorati (CA–Markov va Random Forest).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97600" y="3962191"/>
            <a:ext cx="5181600" cy="1508670"/>
          </a:xfrm>
          <a:prstGeom prst="roundRect">
            <a:avLst>
              <a:gd name="adj" fmla="val 10102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51600" y="4343191"/>
            <a:ext cx="406400" cy="78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C55A11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85000" y="4343191"/>
            <a:ext cx="4264406" cy="78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ahamiyati: oʻzgarish qonuniyatlari va omillari aniqlanishi, hududlar boʻyicha bashorat usuli asoslanishi kutilmoqda.</a:t>
            </a:r>
            <a:endParaRPr lang="en-US" sz="1700" dirty="0"/>
          </a:p>
        </p:txBody>
      </p:sp>
      <p:sp>
        <p:nvSpPr>
          <p:cNvPr id="16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 ASOSLARI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Himoyaga olib chiqiladigan holatlar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691275"/>
            <a:ext cx="10566400" cy="0"/>
          </a:xfrm>
          <a:prstGeom prst="line">
            <a:avLst/>
          </a:prstGeom>
          <a:noFill/>
          <a:ln w="6350">
            <a:solidFill>
              <a:srgbClr val="CFC7B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12800" y="1987152"/>
            <a:ext cx="558800" cy="80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3200" dirty="0">
                <a:solidFill>
                  <a:srgbClr val="C55A11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25600" y="1987152"/>
            <a:ext cx="10046208" cy="80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Masofadan zondlash indekslari va dala tahlillari asosida kalibrlangan modellar hudud tuproqlari shoʻrlanishini [__]% aniqlikda baholash imkonini beradi.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" y="3047757"/>
            <a:ext cx="10566400" cy="0"/>
          </a:xfrm>
          <a:prstGeom prst="line">
            <a:avLst/>
          </a:prstGeom>
          <a:noFill/>
          <a:ln w="6350">
            <a:solidFill>
              <a:srgbClr val="CFC7B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2800" y="3343633"/>
            <a:ext cx="558800" cy="80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3200" dirty="0">
                <a:solidFill>
                  <a:srgbClr val="C55A11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II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25600" y="3343633"/>
            <a:ext cx="10046208" cy="80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Tuproq-meliorativ holat oʻzgarishi relyef, sizot suvlari chuqurligi va sugʻorish tartibi bilan bogʻliq boʻlib, hudud boʻyicha differensial namoyon boʻladi.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800" y="4404238"/>
            <a:ext cx="10566400" cy="0"/>
          </a:xfrm>
          <a:prstGeom prst="line">
            <a:avLst/>
          </a:prstGeom>
          <a:noFill/>
          <a:ln w="6350">
            <a:solidFill>
              <a:srgbClr val="CFC7B6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12800" y="5760720"/>
            <a:ext cx="10566400" cy="0"/>
          </a:xfrm>
          <a:prstGeom prst="line">
            <a:avLst/>
          </a:prstGeom>
          <a:noFill/>
          <a:ln w="6350">
            <a:solidFill>
              <a:srgbClr val="CFC7B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2800" y="4700115"/>
            <a:ext cx="558800" cy="80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3200" dirty="0">
                <a:solidFill>
                  <a:srgbClr val="C55A11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III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25600" y="4700115"/>
            <a:ext cx="10046208" cy="80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Gibrid model [2030–2035]-yillarga meliorativ holat bashoratini beradi va meliorativ tadbirlarni rejalashtirishga asos boʻladi.</a:t>
            </a:r>
            <a:endParaRPr lang="en-US" sz="1800" dirty="0"/>
          </a:p>
        </p:txBody>
      </p:sp>
      <p:sp>
        <p:nvSpPr>
          <p:cNvPr id="14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KUTILAYOTGAN NATIJALAR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Kutilayotgan natijalar va amaliy qoʻllanish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699185"/>
            <a:ext cx="5284724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KUTILAYOTGAN NATIJALAR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2228716"/>
            <a:ext cx="5219700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Koʻp yillik tuproq-meliorativ holat GAT maʼlumotlar bazasi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8700" y="2798281"/>
            <a:ext cx="506234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Shoʻrlanish, sizot suvlari sathi va minerallashuvi xaritalari seriyasi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8700" y="3727861"/>
            <a:ext cx="5435600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Kalibrlangan bashorat modeli va [2030–2035] ssenariylari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8700" y="4297426"/>
            <a:ext cx="5062347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Meliorativ rayonlashtirish xaritasi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400" y="1699185"/>
            <a:ext cx="5284724" cy="358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500" b="1" spc="100" kern="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AHAMIYATI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300" y="2228716"/>
            <a:ext cx="506234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Drenaj, yuvish va sugʻorish tartibini rejalashtirish uchun asos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64300" y="3158296"/>
            <a:ext cx="506234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Gidrogeologik-meliorativ ekspeditsiyalar amaliyotiga joriy etish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64300" y="4087876"/>
            <a:ext cx="5062347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 xoʻjaliklari uchun ekin joylashtirish tavsiyalari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64300" y="4657441"/>
            <a:ext cx="506234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OTMlarda tuproqshunoslik va GAT fanlarini oʻqitishda foydalanish</a:t>
            </a:r>
            <a:endParaRPr lang="en-US" sz="1700" dirty="0"/>
          </a:p>
        </p:txBody>
      </p:sp>
      <p:sp>
        <p:nvSpPr>
          <p:cNvPr id="22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BOSQICHLAR VA ISH REJASI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Tadqiqot bosqichlari va ish rejasi (3 yil)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17930"/>
          <a:ext cx="10553700" cy="3479701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5232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Bosqich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ishlar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Natija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9854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1-yil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[2026–2027]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Adabiyotlar tahlili, maʼlumotlarni yigʻish, birinchi dala mavsumi, GAT bazasi tuzilmasi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bob qoʻlyozmasi, tezislar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9854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2-yil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[2027–2028]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Laboratoriya tahlillari, kosmik suratlarni qayta ishlash, dinamika va omillar tahlili, ikkinchi dala mavsumi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II–III boblar, OAK jurnallarida maqolalar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9854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[2028–2029]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Bashorat modelini qurish va tekshirish, tavsiyalar, natijalarni umumlashtirish, dissertatsiyani yakunlash, dastlabki ekspertiza va Ilmiy kengashda himoya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bob, joriy etish dalolatnomalari; himoyaga taqdim etish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BOSQICHLAR VA ISH REJASI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Aprobatsiya va nashrlar rejasi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775385"/>
            <a:ext cx="2508250" cy="2908845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66800" y="2156385"/>
            <a:ext cx="206025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6200" dirty="0">
                <a:solidFill>
                  <a:srgbClr val="2E75B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[__]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066800" y="3223185"/>
            <a:ext cx="206025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 roʻyxatidagi jurnallarda maqola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98850" y="1775385"/>
            <a:ext cx="2508250" cy="2908845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752850" y="2156385"/>
            <a:ext cx="206025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6200" dirty="0">
                <a:solidFill>
                  <a:srgbClr val="2E75B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[__]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3752850" y="3223185"/>
            <a:ext cx="2060257" cy="111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Xorijiy (Scopus / Web of Science) jurnallarda maqola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84900" y="1775385"/>
            <a:ext cx="2508250" cy="2908845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38900" y="2156385"/>
            <a:ext cx="206025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6200" dirty="0">
                <a:solidFill>
                  <a:srgbClr val="2E75B6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[__]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6438900" y="3223185"/>
            <a:ext cx="206025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va respublika konferensiyalarida tezis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870950" y="1775385"/>
            <a:ext cx="2508250" cy="2908845"/>
          </a:xfrm>
          <a:prstGeom prst="roundRect">
            <a:avLst>
              <a:gd name="adj" fmla="val 5239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24950" y="2156385"/>
            <a:ext cx="206025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6200" dirty="0">
                <a:solidFill>
                  <a:srgbClr val="C55A11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[__]</a:t>
            </a:r>
            <a:endParaRPr lang="en-US" sz="6200" dirty="0"/>
          </a:p>
        </p:txBody>
      </p:sp>
      <p:sp>
        <p:nvSpPr>
          <p:cNvPr id="15" name="Text 13"/>
          <p:cNvSpPr/>
          <p:nvPr/>
        </p:nvSpPr>
        <p:spPr>
          <a:xfrm>
            <a:off x="9124950" y="3223185"/>
            <a:ext cx="2060257" cy="111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EHM dasturi yoki maʼlumotlar bazasi guvohnomasi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2800" y="5217631"/>
            <a:ext cx="91567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joriy etish: </a:t>
            </a: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[tashkilot nomi]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tomonidan dalolatnoma.</a:t>
            </a:r>
            <a:endParaRPr lang="en-US" sz="1800" dirty="0"/>
          </a:p>
        </p:txBody>
      </p:sp>
      <p:sp>
        <p:nvSpPr>
          <p:cNvPr id="17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Foydalanilgan asosiy manbalar</a:t>
            </a:r>
            <a:endParaRPr lang="en-US" sz="3400" dirty="0"/>
          </a:p>
        </p:txBody>
      </p:sp>
      <p:sp>
        <p:nvSpPr>
          <p:cNvPr id="7" name="Rounded Rectangle 6"/>
          <p:cNvSpPr/>
          <p:nvPr/>
        </p:nvSpPr>
        <p:spPr>
          <a:xfrm>
            <a:off x="812800" y="1687176"/>
            <a:ext cx="3461130" cy="40735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2800" y="1896076"/>
            <a:ext cx="2961130" cy="334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Meʼyoriy-huquqiy hujjatlar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800" y="2418325"/>
            <a:ext cx="2961130" cy="647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PQ-277 (10.06.2022); PQ-5006 (24.02.2021)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800" y="3149474"/>
            <a:ext cx="2961130" cy="647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PF-130 (12.08.2025); PF-5853 (23.10.2019)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2800" y="3880623"/>
            <a:ext cx="2961130" cy="647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PF-5742 (17.06.2019); PF-6061 (07.09.2020)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3930" y="1687176"/>
            <a:ext cx="3461130" cy="40735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930" y="1896076"/>
            <a:ext cx="2961130" cy="334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Ilmiy manbalar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930" y="2418325"/>
            <a:ext cx="2961130" cy="10967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Pulatov M.K. Markaziy Fargʻona sugʻoriladigan tuproqlari, ularning asosiy xossalari va unumdorlik holati (Fargʻona viloyati misolida). PhD avtoreferati. Toshkent,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930" y="3598608"/>
            <a:ext cx="2961130" cy="647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[Qoʻshimcha mahalliy va xorijiy ilmiy adabiyotlar — toʻldiriladi]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5060" y="1687176"/>
            <a:ext cx="3461130" cy="40735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060" y="1896076"/>
            <a:ext cx="2961130" cy="334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Statistik maʼlumotlar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060" y="2418325"/>
            <a:ext cx="2961130" cy="647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Andijon, Fargʻona va Namangan viloyatlari ekin joylashtirish rejalari (2019–2026)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060" y="3149474"/>
            <a:ext cx="2961130" cy="647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Norin-Sirdaryo va Sirdaryo-Soʻx ITHB hisobotlari (2019–2026)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060" y="3880623"/>
            <a:ext cx="2961130" cy="647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Meliorativ ekspeditsiya shoʻr yuvish va yer hisobi maʼlumotlari</a:t>
            </a:r>
          </a:p>
        </p:txBody>
      </p:sp>
      <p:sp>
        <p:nvSpPr>
          <p:cNvPr id="21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2011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600" b="1" kern="0" dirty="0" i="1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GʻARBIY FARGʻONA · TUPROQ · GAT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914400" y="2468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400" b="1" i="0" dirty="0">
                <a:solidFill>
                  <a:srgbClr val="7030A0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Eʼtiboringiz uchun rahmat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Nabiyeva Xadiyaxon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800" dirty="0" i="1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[e-pochta · telefon]</a:t>
            </a:r>
            <a:endParaRPr lang="en-US" sz="1400" dirty="0"/>
          </a:p>
        </p:txBody>
      </p:sp>
      <p:pic>
        <p:nvPicPr>
          <p:cNvPr id="7" name="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5486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Ilova: dastlabki maʼlumotlar tahlili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79860"/>
            <a:ext cx="9500000" cy="2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000000"/>
                </a:solidFill>
                <a:latin typeface="Calibri"/>
              </a:rPr>
              <a:t>Quyidagi slaydlarda Andijon, Namangan va Fargʻona viloyatlari boʻyicha toʻplangan dastlabki maʼlumotlar keltirilgan: sugʻoriladigan yerlar shoʻrlanishi, ekin joylashtirish, suv taʼminoti va shoʻr yuvish, tuproq gumusi va bonitet.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429860"/>
            <a:ext cx="950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62626"/>
                </a:solidFill>
                <a:latin typeface="Calibri"/>
              </a:rPr>
              <a:t>Bu slaydlar asosiy taqdimotga kirmaydi; savollar va muhokama uchun zaxira sifatida foydalaniladi.</a:t>
            </a:r>
          </a:p>
        </p:txBody>
      </p:sp>
      <p:sp>
        <p:nvSpPr>
          <p:cNvPr id="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Sugʻoriladigan yerlar shoʻrlanishi dinamikasi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6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Jami shoʻrlangan sugʻoriladigan yerlar, ming ga (Andijon viloyati)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75680"/>
          <a:ext cx="6750000" cy="38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50000" y="1555680"/>
            <a:ext cx="3846192" cy="1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0000" y="1685680"/>
            <a:ext cx="338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−31%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0000" y="2145680"/>
            <a:ext cx="3386192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Jami shoʻrlangan yer: 7,60 ming ga (2015) → 5,26 ming ga (2025); ulushi 2,9% → 1,9%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50000" y="2885680"/>
            <a:ext cx="3846192" cy="1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0000" y="3015680"/>
            <a:ext cx="338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98,1%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0000" y="3475680"/>
            <a:ext cx="3386192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Shoʻrlanmagan yerlar ulushi 2025 yilda (2015 yilda — 97,0%)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0000" y="4215680"/>
            <a:ext cx="3846192" cy="1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000" y="4345680"/>
            <a:ext cx="338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8,08 ming 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000" y="4805680"/>
            <a:ext cx="3386192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Eng yuqori koʻrsatkich — 2020 yil (3,06%); undan keyin barqaror kamayish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Andijon viloyati boʻyicha sugʻoriladigan yerlarning shoʻrlanish darajasi toʻgʻrisidagi maʼlumot, 2015–2025 yillar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Ekinlar hosildorligi dinamikasi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35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Paxta hosildorligi (amalda), s/ga, 2015–2025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55680"/>
          <a:ext cx="6350000" cy="2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96192" y="1555680"/>
            <a:ext cx="43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Gʻalla hosildorligi (sugʻoriladigan), s/ga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36192" y="1855680"/>
          <a:ext cx="4300000" cy="295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2800" y="4985680"/>
            <a:ext cx="10883392" cy="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800" y="4985680"/>
            <a:ext cx="10423392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Tuman kesimida: Ulugʻnor tumanida paxta hosildorligi 2020–2025 yillarda har yili viloyat oʻrtachasidan past (2024 yilda 25,7 s/ga; viloyat — 35,1). Farqning tuproq-meliorativ omillar bilan bogʻliqligi 3.3-boʻlimda tahlil qilinadi.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Andijon viloyati boʻyicha paxta (2015–2025) va gʻalla (2017–2022) hosili toʻgʻrisidagi maʼlumotlar</a:t>
            </a:r>
          </a:p>
        </p:txBody>
      </p:sp>
      <p:sp>
        <p:nvSpPr>
          <p:cNvPr id="14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Tumanlar kesimidagi maʼlumotlar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60119"/>
            <a:ext cx="4900000" cy="268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Paxta hosildorligi, 2025 yil, s/ga (tumanlar)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38783"/>
          <a:ext cx="4900000" cy="39219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00000" y="1560119"/>
            <a:ext cx="5496192" cy="268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Ekin joylashtirish rejasi, ga (ekin maydoniga ulushi)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0" y="1890388"/>
            <a:ext cx="5496192" cy="381872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000" y="2096805"/>
            <a:ext cx="1800000" cy="258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595959"/>
                </a:solidFill>
                <a:latin typeface="Calibri"/>
              </a:rPr>
              <a:t>Tuman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0" y="2096805"/>
            <a:ext cx="750000" cy="258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Calibri"/>
              </a:rPr>
              <a:t>Jami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0000" y="2096805"/>
            <a:ext cx="1200000" cy="258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Calibri"/>
              </a:rPr>
              <a:t>Gʻoʻza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50000" y="2096805"/>
            <a:ext cx="1146192" cy="258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Calibri"/>
              </a:rPr>
              <a:t>Bugʻdoy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2561245"/>
            <a:ext cx="180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Jalaquduq (2026)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0000" y="2561245"/>
            <a:ext cx="75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17 485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0000" y="2561245"/>
            <a:ext cx="120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4 073 · 23%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50000" y="2561245"/>
            <a:ext cx="1146192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6 166 · 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000" y="3170177"/>
            <a:ext cx="180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Shahrixon (2026)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0" y="3170177"/>
            <a:ext cx="75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16 065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0000" y="3170177"/>
            <a:ext cx="120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5 650 · 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0000" y="3170177"/>
            <a:ext cx="1146192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6 402 · 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000" y="3779110"/>
            <a:ext cx="180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Qoʻrgʻontepa (2026)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0000" y="3779110"/>
            <a:ext cx="75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21 542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0000" y="3779110"/>
            <a:ext cx="120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6 618 · 31%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0000" y="3779110"/>
            <a:ext cx="1146192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7 324 · 34%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000" y="4388042"/>
            <a:ext cx="180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Paxtaobod (2026)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0000" y="4388042"/>
            <a:ext cx="75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15 511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000" y="4388042"/>
            <a:ext cx="120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4 450 · 29%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50000" y="4388042"/>
            <a:ext cx="1146192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6 492 · 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000" y="4996974"/>
            <a:ext cx="180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Oltinkoʻl (2025)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0000" y="4996974"/>
            <a:ext cx="75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11 147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0000" y="4996974"/>
            <a:ext cx="1200000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3 740 · 34%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0000" y="4996974"/>
            <a:ext cx="1146192" cy="3096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0">
                <a:solidFill>
                  <a:srgbClr val="000000"/>
                </a:solidFill>
                <a:latin typeface="Calibri"/>
              </a:rPr>
              <a:t>4 144 · 37%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2025 yil paxta hosili hisoboti; tumanlar ekin joylashtirish rejalari (Oltinkoʻl — 2025 yil hosili)</a:t>
            </a:r>
          </a:p>
        </p:txBody>
      </p:sp>
      <p:sp>
        <p:nvSpPr>
          <p:cNvPr id="36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Paxta maydonining oʻzgarishi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5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Paxta ekin maydoni, ming ga (viloyat), 2015–2025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55680"/>
          <a:ext cx="5000000" cy="2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96192" y="1555680"/>
            <a:ext cx="57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Gʻoʻza maydoni, ga: 2024 va 2026 reja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936192" y="1855680"/>
          <a:ext cx="5700000" cy="295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2800" y="4985680"/>
            <a:ext cx="10883392" cy="8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800" y="4985680"/>
            <a:ext cx="10423392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Viloyatda paxta maydoni 10 yilda 93,4 dan 60,0 ming gagacha (−36%) qisqardi; 2026 yil tuman rejalarida pasayish davom etadi (8 tuman: −8% dan −24% gacha; eng koʻp Jalaquduq −24%, Andijon −23%, Paxtaobod −16%). Boʻshagan yerlardagi meliorativ holat 3.3-boʻlimda tahlil qilinadi.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viloyat paxta hisobotlari (reja va amaldagi maydon aralash); tumanlar ekin joylashtirish rejalari</a:t>
            </a:r>
          </a:p>
        </p:txBody>
      </p:sp>
      <p:sp>
        <p:nvSpPr>
          <p:cNvPr id="14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Ekin tarkibi: Andijon viloyati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Ekin joylashtirish, ming ga (2024 yil hosili uchun reja)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25680"/>
          <a:ext cx="6500000" cy="3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281,5 ming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Jami ekin joylashtirish (asosiy, takroriy ekin va qator oralari bilan)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25% + 25%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Gʻoʻza (71,3 ming ga) va donli ekinlar (70,2 ming ga) tarkibning yarmini tashkil etadi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10,9 ming 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Sholi — eng koʻp sugʻorish talab qiladigan ekin; asosan Paxtaobod (2 565 ga) va Jalaquduq (1 456 ga)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Andijon viloyati tumanlari boʻyicha ekin joylashtirish prognozi (2024 yil hosili)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Ulugʻnor tumani: kontur bonitet ballari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Sugʻoriladigan yer maydoni bonitet sinflari boʻyicha, ga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55680"/>
          <a:ext cx="63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47,4 ball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Maydon boʻyicha oʻrtacha bonitet (kontur ballari 28 dan 69 gacha)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2 337 kontur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21,0 ming ga ekin maydoni kontur kesimida raqamlangan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Maydonning ulushi past bonitetli (≤40 ball) yerlarda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5075680"/>
            <a:ext cx="6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Ulugʻnor tumanida paxta hosildorligi viloyat oʻrtachasidan past. Kontur ballari GAT qatlami sifatida 3.3-boʻlimdagi omillar tahlilida ishlatiladi.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Ulugʻnor tumani ekin joylashtirish rejasi (2022 yil hosili), kontur kesimida</a:t>
            </a:r>
          </a:p>
        </p:txBody>
      </p:sp>
      <p:sp>
        <p:nvSpPr>
          <p:cNvPr id="20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Namangan viloyati: suv taʼminoti va shoʻr yuvish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Sugʻorishga amalda olingan suv, mln m³ (Namangan viloyati)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55680"/>
          <a:ext cx="65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2800" y="5025680"/>
            <a:ext cx="65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2023–24 yilda olingan 2 484,9 mln m³ suvning 77% i daryo uzanidan, 19% i ichki soy va daryolardan, 2% dan zovur va yer osti suvlaridan. 2019–20 yilda limit 2 441 dan 3 181,6 mln m³ gacha oshirilgan.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23,2 → 22,6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Shoʻr yuvish maydoni, ming ga (2019–20 → 2025–26); asosan Mingbuloq tumani (14,7 ming ga)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−30%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Sugʻorishga olingan suv 3 181,6 dan 2 226,0 mln m³ gacha kamaygan (2019–20 → 2023–24)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63,4 → 61,0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Paxta maydoni, ming ga; gʻalla esa 74,0 dan 78,0 ming gaga oshgan (2019–20 → 2023–24)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Norin-Sirdaryo IT_HB yillik hisobotlari (2019–2024)</a:t>
            </a:r>
          </a:p>
        </p:txBody>
      </p:sp>
      <p:sp>
        <p:nvSpPr>
          <p:cNvPr id="20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Suv omborlari rejimi, 2025 yil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6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Suv ombori hajmi, mln m³ (oy oxiriga)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25680"/>
          <a:ext cx="6700000" cy="3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144,4 mln m³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Rezaksoy hajmining eng yuqori qiymati (aprel); eng past — 91,6 mln m³ (avgust)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88,1 → 15,9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Kosonsoy hajmi maydan noyabrgacha, mln m³: ekin mavsumida hajm keskin kamayadi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−35%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Rezaksoy yillik eng yuqori hajmi 2018 yildagi 194,0 dan 2024 yilda 126,2 mln m³ gacha kamaygan; 2025 yilda — 143,8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Norin-Sirdaryo IT_HB suv omborlari kunlik va dekadalik maʼlumotlari (2009–2025)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Namangan viloyati: suv xoʻjaligi obyektlari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Davlat roʻyxatidan oʻtgan ulushi (maydon boʻyicha), 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25680"/>
          <a:ext cx="6500000" cy="3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6 527 obyekt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Jami uzunligi 8 937 km, yer maydoni 28 605,6 ga (29.01.2026 holati)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53%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Maydonning 15 273 ga qismi davlat roʻyxatidan oʻtgan; 39,5% (11 300 ga) hali oʻtmagan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5 044 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Zovur tarmogʻi: 344 kollektor (1 814 km) va 4 384 ichki zovur (3 230 km); ichki zovurlar roʻyxatdan oʻtmagan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Namangan viloyati suv xoʻjaligi obyektlarini davlat roʻyxatidan oʻtkazish toʻgʻrisida maʼlumot, 29.01.2026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Fargʻona viloyati: ekin joylashtirish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Gʻoʻza maydoni tumanlar boʻyicha, ga (2022 va 2023 yil hosili)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5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C55A11"/>
                </a:solidFill>
                <a:latin typeface="Times New Roman"/>
              </a:rPr>
              <a:t>73,9 → 82,1 → 77,8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Fargʻona viloyatida gʻoʻza maydoni, ming ga (2021 → 2022 → 2023); donli ekinlar 99,5 → 99,5 → 95,7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E75B6"/>
                </a:solidFill>
                <a:latin typeface="Times New Roman"/>
              </a:rPr>
              <a:t>242,1 → 239,6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Ekin joylashtirish 2022–2023 yillarda 242,1 ming ga; ekin yeri 2025-yil 1-yanvarda 239,6 ming ga (yer hisobi)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11 177 fermer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Fermer xoʻjaliklari (2023-yil 1-yanvar): umumiy yer 350,0 ming ga; 2 587 paxta-gʻallachilik xoʻjaligi — 217,0 ming 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Fargʻona viloyati ekin joylashtirish rejalari (2021–2023), yer hisobi (2025) va fermer xoʻjaliklari ixtisosligi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Fargʻona viloyati: shoʻr yuvish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Shoʻr yuviladigan maydon, ga (2024–2025 yillar)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33 104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Shoʻr yuvish rejasi (11 tuman); kuchli shoʻrlangan yerlar qayta yuvilgani uchun jami ish hajmi 33 423 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86,5%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Kuchsiz shoʻrlangan yerlar (28 918 ga); oʻrta shoʻrlangan — 3 867 ga (11,7%)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319 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Kuchli shoʻrlangan maydon: Dangʻara (109), Qoʻshtepa (122) va Furqat (88) tumanlarida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Fargʻona viloyati tumanlarida 2024–2025 yillarda shoʻr yuviladigan maydonlar toʻgʻrisida maʼlumot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Andijon viloyati: shoʻr yuvish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Shoʻr yuviladigan maydon, ga (2023–2024 yillar)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5 680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Shoʻr yuviladigan maydon: Ulugʻnor 3 829, Baliqchi 1 249, Boʻston 602 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Ulugʻnor ulushi (3 829 ga); paxta hosildorligi ham viloyat oʻrtachasidan past tuman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18,6 mln m³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Talab etiladigan suv (Ulugʻnor — 12,5); ishlar 15.11.2023 dan 25.01.2024 gacha rejalashtirilgan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Andijon viloyati tumanlarida 2023–2024 yillar kuzgi-qishki shoʻr yuvish grafigi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Namangan viloyati: shoʻr yuvish bajarilishi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Shoʻr yuvish, ga: reja va amalda (2025–26, 16.01.2026 holati)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22 560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Shoʻr yuvishga tayyorlangan yer (2024–25 yilda — 22 657 ga); 100% bajarilgan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86,0%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Shoʻr yuvish bajarilishi: 24 411 dan 28 399 ga (16.01.2026); 2024–25 yilda mavsum oxirida — 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68,4%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Pop tumanida bajarilish eng past (7 161 dan 10 466 ga); Mingbuloqda — 96,2%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Namangan viloyati shoʻr yuvish hisobotlari (11.02.2025 va 16.01.2026)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Fargʻona viloyati: suv olish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Tumanlarga ajratilgan suv sarfi, m³/s (10.01.2026): reja va amalda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5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65,5 m³/s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Viloyat boʻyicha amalda olingan suv; kunlik reja — 34,5 m³/s (+90%)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13 ta tuman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Amalda olingan suv rejadan yuqori; Oʻzbekiston tumanida 6,0 (reja 1,5), Buvayda va Dangʻarada ~2 barobar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Yanvar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Hisobot sanasi (10.01.2026) shoʻr yuvish mavsumiga toʻgʻri keladi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tumanlarga suv manbalaridan ajratilayotgan suv sarflari toʻgʻrisida maʼlumot, 10.01.2026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Namangan viloyati: ekin joylashtirish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Gʻoʻza va bugʻdoy maydoni, ming ga (Namangan viloyati)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−20%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Gʻoʻza maydoni 61,0 dan 48,9 ming gaga kamaygan (2024 → 2025); 2026 yil rejasida ham 48,9 ming 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182,7 ming 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2026 yil jami ekin joylashtirish (2025 yilda 196,7 ming ga, −7%); asosiy kamayish Pop tumanida: 37,6 → 27,9 ming 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C55A11"/>
                </a:solidFill>
                <a:latin typeface="Times New Roman"/>
              </a:rPr>
              <a:t>Pop va Mingbuloq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Gʻoʻzaning eng katta maydonlari: 2025 yilda Mingbuloq 10,7 va Pop 6,3 ming 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Namangan viloyati 2024, 2025 va 2026 yil hosili uchun ekin joylashtirish rejalari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Namangan viloyati: yer degradatsiyasi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Degradatsiyani kamaytirish tadbirlari, ming ga (2025): reja va amalda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11,7 ming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Gumus miqdori 1% gacha boʻlgan tuproqlarda unumdorlik oshirilgan (105,8%); asosan Pop (6,7) va Mingbuloq (1,8)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0,3 ming 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Tuproq shoʻrlanishini kamaytirish: Mingbuloq 0,2, Pop 0,1 (reja 110% bajarilgan)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2,9 ming 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Degradatsiyaga uchragan yerlar holati yaxshilangan (108,3%); Pop tumanida — 2,3 ming 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Namangan viloyatida 2025 yilda yer degradatsiyasini kamaytirish prognoz koʻrsatkichlarining bajarilishi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Andijon viloyati: suv unumdorligi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1 m³ sugʻorish suvidan olingan hosil, kg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−22%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Paxtaga 1 ga uchun berilgan suv 7,31 dan 5,72 ming m³ gacha kamaygan (2019 → 2024); hosildorlik 32,6 dan 35,1 s/ga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+36%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Paxtada 1 m³ suvdan olingan hosil 0,45 dan 0,61 kg gacha oshgan; donda 1,29 dan 1,71 kg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5,5 barobar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Sholi 1 ga ga 31,6 ming m³ suv sarflaydi (paxta — 5,7 ming m³), 1 m³ dan 0,14 kg hosil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Andijon viloyati boʻyicha 1 m³ suv bilan olingan qishloq xoʻjalik mahsulotlari (2021 yil nusxa boʻlgani uchun chiqarilgan)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Fargʻona viloyati: tuproqdagi gumus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Gumus miqdori ≤0,80% boʻlgan yerlar ulushi, % (10 tuman)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25680"/>
          <a:ext cx="6500000" cy="3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191,7 ming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10 tumanda sugʻoriladigan yer konturlari boʻyicha tuproq taʼminlanganligi tahlil qilingan (gumus, fosfor, kaliy)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Gumus miqdori 0,80% gacha (juda kam va kam) boʻlgan yerlar — 85,1 ming ga; oʻrtacha (0,81–1,20%) — 36%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64% → 17%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Kam gumusli yerlar ulushi Dangʻarada eng yuqori, Quvada eng past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Fargʻona viloyati tumanlari sugʻoriladigan yerlarining gumus, harakatchan fosfor va almashinuvchi kaliy bilan taʼminlanganligi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Fargʻona viloyati: shoʻr yuvish dinamikasi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Shoʻr yuviladigan maydon, ming ga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C55A11"/>
                </a:solidFill>
                <a:latin typeface="Times New Roman"/>
              </a:rPr>
              <a:t>33,6 → 33,1 → 26,2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Shoʻr yuvish maydoni, ming ga (2023–24 → 2024–25 → 2025–26 reja); soʻnggi mavsumda reja −22%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2,9 → 0,3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Kuchli shoʻrlangan yer, ming ga (2023–24 → 2024–25); oʻrta shoʻrlangan 7,7 dan 3,9 gacha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2025–26 mavsumida 10.01.2026 gacha 17 474 ga (26 170 ga rejadan) yuvilgan; 1 289 xoʻjalik ish boshlagan, 220 tasi boshlamagan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Fargʻona viloyati shoʻr yuvish maʼlumotlari (2023–24, 2024–25 va 10.01.2026 holati); tuman tarkibi yillar boʻyicha farq qiladi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Fargʻona viloyati: gʻoʻza va donli ekinlar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Gʻoʻza va donli ekinlar maydoni, ming ga (2021–2026)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−12%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Gʻoʻza maydoni 82,1 dan 72,0 ming gaga kamayadi (2022 → 2026 reja); 2025 va 2026 rejalarida bir xil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−7%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Donli ekinlar 99,5 dan 92,2 ming gaga (2021 → 2026 reja)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3 viloyat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Andijon, Fargʻona va Namangan: paxta maydoni barchasida qisqarmoqda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Fargʻona viloyati ekin joylashtirish rejalari va takliflari (2021–2026); 2025–2026 — taklif/reja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· DASTLABKI MAʼLUMOTLAR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Suv omborlari: 9 yanvar holati</a:t>
            </a:r>
            <a:endParaRPr lang="en-US" sz="34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55568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Calibri"/>
              </a:rPr>
              <a:t>Suv ombori hajmi 9 yanvarda, mln m³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180568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55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67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909,3 mln m³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11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Andijon suv ombori (quvvati 1 900): 2025 yilning shu kuniga nisbatan −20%, 2024 yilga nisbatan +10%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293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05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E75B6"/>
                </a:solidFill>
                <a:latin typeface="Times New Roman"/>
              </a:rPr>
              <a:t>−66%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49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Kosonsoy hajmi 65 dan 22,1 mln m³ gacha kamaygan (2025 → 2026); Karkidon −32%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31568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43568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55A11"/>
                </a:solidFill>
                <a:latin typeface="Times New Roman"/>
              </a:rPr>
              <a:t>110,9 mln m³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487568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Rezaksoy (quvvati 300): 2025 yilda 127, 2024 va 2023 yillarda 109–110 mln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respublika va respublikalararo suv omborlari ishlashi toʻgʻrisida maʼlumot, 2026-yil 9-yanvar holati</a:t>
            </a:r>
          </a:p>
        </p:txBody>
      </p:sp>
      <p:sp>
        <p:nvSpPr>
          <p:cNvPr id="19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DOLZARBLIK VA OʻRGANILGANLIK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Dolzarbligini tasdiqlovchi dalillar</a:t>
            </a:r>
            <a:endParaRPr lang="en-US" sz="3400" dirty="0"/>
          </a:p>
        </p:txBody>
      </p:sp>
      <p:sp>
        <p:nvSpPr>
          <p:cNvPr id="7" name="Rounded Rectangle 6"/>
          <p:cNvSpPr/>
          <p:nvPr/>
        </p:nvSpPr>
        <p:spPr>
          <a:xfrm>
            <a:off x="812800" y="155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2800" y="172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C55A11"/>
                </a:solidFill>
                <a:latin typeface="Times New Roman"/>
              </a:rPr>
              <a:t>−36%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800" y="233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Andijon viloyatida paxta ekin maydoni 2015–2025 yillarda 93,4 dan 60,0 ming gagacha qisqargan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4496" y="155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496" y="172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2E75B6"/>
                </a:solidFill>
                <a:latin typeface="Times New Roman"/>
              </a:rPr>
              <a:t>33,4 ming 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496" y="233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Fargʻona viloyatida 2024–2025 yillarda shoʻr yuvilgan maydon (shundan 319 ga kuchli shoʻrlangan)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343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2800" y="360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2E75B6"/>
                </a:solidFill>
                <a:latin typeface="Times New Roman"/>
              </a:rPr>
              <a:t>22,6 ming 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2800" y="421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Namangan viloyatida shoʻr yuvish maydoni (2025–26); sugʻorishga olingan suv 5 yilda 30% kamaygan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4496" y="343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496" y="360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C55A11"/>
                </a:solidFill>
                <a:latin typeface="Times New Roman"/>
              </a:rPr>
              <a:t>44%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496" y="421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Fargʻonaning 10 tumanida sugʻoriladigan yerlarning 44% i gumus miqdori 0,80% gacha boʻlgan tuproqlar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5425680"/>
            <a:ext cx="108833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Dalillar Andijon, Fargʻona va Namangan viloyatlarining rasmiy hisobotlariga asoslangan.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ilovadagi dastlabki maʼlumotlar tahlili (viloyat hokimliklari, ITHB va meliorativ ekspeditsiya hisobotlari)</a:t>
            </a:r>
          </a:p>
        </p:txBody>
      </p:sp>
      <p:sp>
        <p:nvSpPr>
          <p:cNvPr id="21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OʻRGANILGANLIK DARAJASI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Hal etilmagan jihatlar va tadqiqot zarurati</a:t>
            </a:r>
            <a:endParaRPr lang="en-US" sz="3400" dirty="0"/>
          </a:p>
        </p:txBody>
      </p:sp>
      <p:sp>
        <p:nvSpPr>
          <p:cNvPr id="7" name="Rounded Rectangle 6"/>
          <p:cNvSpPr/>
          <p:nvPr/>
        </p:nvSpPr>
        <p:spPr>
          <a:xfrm>
            <a:off x="812800" y="1675680"/>
            <a:ext cx="3461130" cy="2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2800" y="1875680"/>
            <a:ext cx="296113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Calibri"/>
              </a:rPr>
              <a:t>Mahalliy tadqiqotlar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800" y="2325680"/>
            <a:ext cx="2961130" cy="1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Markaziy Fargʻona tuproqlari: A.N.Rozanov, S.N.Rijov, M.A.Pankov, S.Tojiboyev, A.Maqsudov, G‘.Yuldashev va boshq. (Pulatov, 2025 sharhi)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3930" y="1675680"/>
            <a:ext cx="3461130" cy="2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930" y="1875680"/>
            <a:ext cx="296113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Calibri"/>
              </a:rPr>
              <a:t>Xorijiy tajriba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930" y="2325680"/>
            <a:ext cx="2961130" cy="1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[GAT va masofadan zondlash asosida shoʻrlanish monitoringi va bashorati boʻyicha xorijiy manbalar — toʻldiring]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5060" y="1675680"/>
            <a:ext cx="3461130" cy="2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060" y="1875680"/>
            <a:ext cx="296113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Calibri"/>
              </a:rPr>
              <a:t>Yetarlicha oʻrganilmagan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060" y="2325680"/>
            <a:ext cx="2961130" cy="1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Hudud tuproqlari xossalari va unumdorligining yillar davomida oʻzgarishi (Pulatov, 2025); kelajak holatni bashoratlash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975680"/>
            <a:ext cx="10883392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Calibri"/>
              </a:rPr>
              <a:t>YANGI TADQIQOT ZARURATI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4375680"/>
            <a:ext cx="2608348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Calibri"/>
              </a:rPr>
              <a:t>Dinamika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4725680"/>
            <a:ext cx="2608348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Koʻp yillik fazoviy-vaqtli oʻzgarishni yagona bazada baholash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1148" y="4375680"/>
            <a:ext cx="2608348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Calibri"/>
              </a:rPr>
              <a:t>Bashorat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1148" y="4725680"/>
            <a:ext cx="2608348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Oʻzgarishlarni kelajakka bashoratlovchi GAT modeli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9496" y="4375680"/>
            <a:ext cx="2608348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Calibri"/>
              </a:rPr>
              <a:t>Omillar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9496" y="4725680"/>
            <a:ext cx="2608348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Relyef, sizot suvi va sugʻorish taʼsirini statistik baholash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7844" y="4375680"/>
            <a:ext cx="2608348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C55A11"/>
                </a:solidFill>
                <a:latin typeface="Calibri"/>
              </a:rPr>
              <a:t>Amaliyot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7844" y="4725680"/>
            <a:ext cx="2608348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Yuvish va drenaj rejalarini xarita asosida asoslash</a:t>
            </a:r>
          </a:p>
        </p:txBody>
      </p:sp>
      <p:sp>
        <p:nvSpPr>
          <p:cNvPr id="25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AMALGA OSHIRISH IMKONIYATI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Imkoniyat va yakuniy asoslash</a:t>
            </a:r>
            <a:endParaRPr lang="en-US" sz="3400" dirty="0"/>
          </a:p>
        </p:txBody>
      </p:sp>
      <p:sp>
        <p:nvSpPr>
          <p:cNvPr id="7" name="Rounded Rectangle 6"/>
          <p:cNvSpPr/>
          <p:nvPr/>
        </p:nvSpPr>
        <p:spPr>
          <a:xfrm>
            <a:off x="812800" y="155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2800" y="172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C55A11"/>
                </a:solidFill>
                <a:latin typeface="Times New Roman"/>
              </a:rPr>
              <a:t>Tadqiqot bazasi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800" y="233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Andijon, Fargʻona va Namangan viloyatlari boʻyicha 2015–2026 yillar ekin joylashtirish, shoʻrlanish, shoʻr yuvish, suv va tuproq (gumus, bonitet) maʼlumotlari toʻplangan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4496" y="155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496" y="172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E75B6"/>
                </a:solidFill>
                <a:latin typeface="Times New Roman"/>
              </a:rPr>
              <a:t>Resurslar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496" y="233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ArcGIS Pro, QGIS, Google Earth Engine, SNAP, Python, TerrSet; ochiq kosmik suratlar (Landsat, Sentinel-2); [laboratoriya va dala bazasi]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343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E8A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2800" y="360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E75B6"/>
                </a:solidFill>
                <a:latin typeface="Times New Roman"/>
              </a:rPr>
              <a:t>Cheklovlar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2800" y="421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Kontur va bonitet maʼlumotlari tumanlar boʻyicha toʻliq emas; hisobot davrlari va tuman tarkibi farq qiladi; tadqiqot hududi chegarasi aniqlashtiriladi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4496" y="343568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496" y="360568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C55A11"/>
                </a:solidFill>
                <a:latin typeface="Times New Roman"/>
              </a:rPr>
              <a:t>Yakuniy asos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496" y="421568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62626"/>
                </a:solidFill>
                <a:latin typeface="Calibri"/>
              </a:rPr>
              <a:t>Muammo, maqsad, usullar, gʻoya va ish rejasi oʻzaro mos; tadqiqotni uch yilda bajarish va himoyaga taqdim etish imkoni mavjud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5425680"/>
            <a:ext cx="108833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62626"/>
                </a:solidFill>
                <a:latin typeface="Calibri"/>
              </a:rPr>
              <a:t>Tadqiqot muammosi, maqsadi, metodologiyasi, gʻoyasi va rejasi bir-biriga muvofiq.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Manba: ilovadagi dastlabki maʼlumotlar tahlili</a:t>
            </a:r>
          </a:p>
        </p:txBody>
      </p:sp>
      <p:sp>
        <p:nvSpPr>
          <p:cNvPr id="21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88720" y="2286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kern="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188720" y="5029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200" b="1" i="0" dirty="0">
                <a:solidFill>
                  <a:srgbClr val="548235"/>
                </a:solidFill>
                <a:latin typeface="Times New Roman" pitchFamily="18" charset="0"/>
                <a:ea typeface="Times New Roman" pitchFamily="18" charset="-122"/>
                <a:cs typeface="Times New Roman" pitchFamily="18" charset="-120"/>
              </a:rPr>
              <a:t>Ilova: zaxira slaydlar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slaydlar asosiy taqdimotga kirmaydi.</a:t>
            </a:r>
            <a:endParaRPr lang="en-US" sz="1800" dirty="0"/>
          </a:p>
        </p:txBody>
      </p:sp>
      <p:sp>
        <p:nvSpPr>
          <p:cNvPr id="5" name="Problem statement"/>
          <p:cNvSpPr/>
          <p:nvPr/>
        </p:nvSpPr>
        <p:spPr>
          <a:xfrm>
            <a:off x="1188720" y="1737360"/>
            <a:ext cx="97840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/>
            <a:r>
              <a:rPr sz="3000" b="1">
                <a:solidFill>
                  <a:srgbClr val="000000"/>
                </a:solidFill>
                <a:latin typeface="Times New Roman"/>
              </a:rPr>
              <a:t>Dissertatsiyaning taxminiy tarkibi va Andijon, Namangan hamda Fargʻona viloyatlari boʻyicha toʻplangan dastlabki maʼlumotlar tahlili. Savol-javob uchun zaxira.</a:t>
            </a:r>
          </a:p>
        </p:txBody>
      </p:sp>
      <p:sp>
        <p:nvSpPr>
          <p:cNvPr id="6" name="Slide number"/>
          <p:cNvSpPr/>
          <p:nvPr/>
        </p:nvSpPr>
        <p:spPr>
          <a:xfrm>
            <a:off x="10972800" y="365760"/>
            <a:ext cx="64008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0000"/>
                </a:solidFill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ʻarbiy Fargʻona tuproqlari — GAT asosida bashoratlash">
  <a:themeElements>
    <a:clrScheme name="Gʻarbiy Fargʻona tuproqlari — GAT asosida bashoratlash">
      <a:dk1>
        <a:srgbClr val="1D2A24"/>
      </a:dk1>
      <a:lt1>
        <a:srgbClr val="F4F1EA"/>
      </a:lt1>
      <a:dk2>
        <a:srgbClr val="535C56"/>
      </a:dk2>
      <a:lt2>
        <a:srgbClr val="DFDDD6"/>
      </a:lt2>
      <a:accent1>
        <a:srgbClr val="A4521D"/>
      </a:accent1>
      <a:accent2>
        <a:srgbClr val="2C6A85"/>
      </a:accent2>
      <a:accent3>
        <a:srgbClr val="E3925A"/>
      </a:accent3>
      <a:accent4>
        <a:srgbClr val="8CC3DB"/>
      </a:accent4>
      <a:accent5>
        <a:srgbClr val="F6DCC6"/>
      </a:accent5>
      <a:accent6>
        <a:srgbClr val="5F6B64"/>
      </a:accent6>
      <a:hlink>
        <a:srgbClr val="0563C1"/>
      </a:hlink>
      <a:folHlink>
        <a:srgbClr val="954F72"/>
      </a:folHlink>
    </a:clrScheme>
    <a:fontScheme name="Gʻarbiy Fargʻona tuproqlari — GAT asosida bashoratlash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Gʻarbiy Fargʻona tuproqlari — GAT asosida bashoratlash</dc:title>
  <dc:subject/>
  <dc:creator/>
  <cp:lastModifiedBy/>
  <cp:revision>1</cp:revision>
  <dcterms:created xsi:type="dcterms:W3CDTF">2026-10-09T02:22:44Z</dcterms:created>
  <dcterms:modified xsi:type="dcterms:W3CDTF">2026-10-09T02:22:44Z</dcterms:modified>
</cp:coreProperties>
</file>
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aqdimot" id="{2cc77b5f-2106-4cec-5749-7d65f934c1c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Titul sahifasi: mavzu, ixtisoslik, muallif va ilmiy rahbar. Qavs ichidagi maydonlarni to'ldiring.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Odatda 4–7 ta vazifa shakllantiriladi.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Uch bobli tuzilma namunaviy; ixtisoslikka qarab bob soni o'zgarishi mumkin.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DISSERTATSIYA REJASINING MUFASSAL LOYIHASI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[Dissertatsiya mavzusi]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Ilmiy daraja: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 / DSc / Magistr]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Ixtisoslik: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[nomi va shifri]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Tadqiqotchi: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[F.I.Sh.]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Ilmiy rahbar: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[F.I.Sh., unvoni]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[Muassasa nomi] · [Shahar],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Mavzuning dolzarbligi</a:t>
            </a:r>
            <a:endParaRPr lang="en-US" sz="3000" dirty="0"/>
          </a:p>
        </p:txBody>
      </p:sp>
      <p:sp>
        <p:nvSpPr>
          <p:cNvPr id="3" name="Karta"/>
          <p:cNvSpPr/>
          <p:nvPr/>
        </p:nvSpPr>
        <p:spPr>
          <a:xfrm>
            <a:off x="457200" y="1371600"/>
            <a:ext cx="256032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aqam doirasi"/>
          <p:cNvSpPr/>
          <p:nvPr/>
        </p:nvSpPr>
        <p:spPr>
          <a:xfrm>
            <a:off x="685800" y="16002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Muammoning ahamiyati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 bugungi kunda nima uchun muhim ekani; soha va jamiyat uchun ahamiyati.</a:t>
            </a:r>
            <a:endParaRPr lang="en-US" sz="1400" dirty="0"/>
          </a:p>
        </p:txBody>
      </p:sp>
      <p:sp>
        <p:nvSpPr>
          <p:cNvPr id="8" name="Karta"/>
          <p:cNvSpPr/>
          <p:nvPr/>
        </p:nvSpPr>
        <p:spPr>
          <a:xfrm>
            <a:off x="3291840" y="1371600"/>
            <a:ext cx="256032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aqam doirasi"/>
          <p:cNvSpPr/>
          <p:nvPr/>
        </p:nvSpPr>
        <p:spPr>
          <a:xfrm>
            <a:off x="3520440" y="16002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Mavjud muammolar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Ilmiy va amaliy darajada hal etilmagan, e'tiborga muhtoj masalalar.</a:t>
            </a:r>
            <a:endParaRPr lang="en-US" sz="1400" dirty="0"/>
          </a:p>
        </p:txBody>
      </p:sp>
      <p:sp>
        <p:nvSpPr>
          <p:cNvPr id="13" name="Karta"/>
          <p:cNvSpPr/>
          <p:nvPr/>
        </p:nvSpPr>
        <p:spPr>
          <a:xfrm>
            <a:off x="6126480" y="1371600"/>
            <a:ext cx="256032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aqam doirasi"/>
          <p:cNvSpPr/>
          <p:nvPr/>
        </p:nvSpPr>
        <p:spPr>
          <a:xfrm>
            <a:off x="6355080" y="16002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194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Zarurat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Muammoni aynan hozir va aynan shu yondashuvda o'rganish zarurligi asosi.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 va vazifalar</a:t>
            </a:r>
            <a:endParaRPr lang="en-US" sz="3000" dirty="0"/>
          </a:p>
        </p:txBody>
      </p:sp>
      <p:sp>
        <p:nvSpPr>
          <p:cNvPr id="3" name="Maqsad kartasi"/>
          <p:cNvSpPr/>
          <p:nvPr/>
        </p:nvSpPr>
        <p:spPr>
          <a:xfrm>
            <a:off x="457200" y="1371600"/>
            <a:ext cx="3108960" cy="3108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Tadqiqot orqali qanday ilmiy natijaga erishish ko'zda tutilayotgani: [maqsadni 1–2 gapda yozing].</a:t>
            </a:r>
            <a:endParaRPr lang="en-US" sz="1600" dirty="0"/>
          </a:p>
        </p:txBody>
      </p:sp>
      <p:sp>
        <p:nvSpPr>
          <p:cNvPr id="6" name="Raqam doirasi"/>
          <p:cNvSpPr/>
          <p:nvPr/>
        </p:nvSpPr>
        <p:spPr>
          <a:xfrm>
            <a:off x="3931920" y="141732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319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371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Nazariy-metodologik asoslarni o'rganish</a:t>
            </a:r>
            <a:endParaRPr lang="en-US" sz="1600" dirty="0"/>
          </a:p>
        </p:txBody>
      </p:sp>
      <p:sp>
        <p:nvSpPr>
          <p:cNvPr id="9" name="Raqam doirasi"/>
          <p:cNvSpPr/>
          <p:nvPr/>
        </p:nvSpPr>
        <p:spPr>
          <a:xfrm>
            <a:off x="3931920" y="20574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3192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holatni tahlil qilish</a:t>
            </a:r>
            <a:endParaRPr lang="en-US" sz="1600" dirty="0"/>
          </a:p>
        </p:txBody>
      </p:sp>
      <p:sp>
        <p:nvSpPr>
          <p:cNvPr id="12" name="Raqam doirasi"/>
          <p:cNvSpPr/>
          <p:nvPr/>
        </p:nvSpPr>
        <p:spPr>
          <a:xfrm>
            <a:off x="3931920" y="269748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319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651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 yechimining modelini ishlab chiqish</a:t>
            </a:r>
            <a:endParaRPr lang="en-US" sz="1600" dirty="0"/>
          </a:p>
        </p:txBody>
      </p:sp>
      <p:sp>
        <p:nvSpPr>
          <p:cNvPr id="15" name="Raqam doirasi"/>
          <p:cNvSpPr/>
          <p:nvPr/>
        </p:nvSpPr>
        <p:spPr>
          <a:xfrm>
            <a:off x="3931920" y="333756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3192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291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Taklifni tajribada tekshirish va baholash</a:t>
            </a:r>
            <a:endParaRPr lang="en-US" sz="1600" dirty="0"/>
          </a:p>
        </p:txBody>
      </p:sp>
      <p:sp>
        <p:nvSpPr>
          <p:cNvPr id="18" name="Raqam doirasi"/>
          <p:cNvSpPr/>
          <p:nvPr/>
        </p:nvSpPr>
        <p:spPr>
          <a:xfrm>
            <a:off x="3931920" y="39776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3192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3931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tavsiyalarni shakllantirish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Tadqiqot obyekti va predmeti</a:t>
            </a:r>
            <a:endParaRPr lang="en-US" sz="3000" dirty="0"/>
          </a:p>
        </p:txBody>
      </p:sp>
      <p:sp>
        <p:nvSpPr>
          <p:cNvPr id="3" name="Karta"/>
          <p:cNvSpPr/>
          <p:nvPr/>
        </p:nvSpPr>
        <p:spPr>
          <a:xfrm>
            <a:off x="457200" y="1371600"/>
            <a:ext cx="402336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OBYEKT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Tadqiqot yo'naltirilgan jarayon, hodisa yoki tizim.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175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[Obyektni yozing]</a:t>
            </a:r>
            <a:endParaRPr lang="en-US" sz="2000" dirty="0"/>
          </a:p>
        </p:txBody>
      </p:sp>
      <p:sp>
        <p:nvSpPr>
          <p:cNvPr id="7" name="Karta"/>
          <p:cNvSpPr/>
          <p:nvPr/>
        </p:nvSpPr>
        <p:spPr>
          <a:xfrm>
            <a:off x="4663440" y="1371600"/>
            <a:ext cx="402336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645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PREDMET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0116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Obyekt doirasida o'rganiladigan xususiyat, munosabat yoki qonuniyatlar.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30175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[Predmetni yozing]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Muammoning o'rganilganlik darajasi</a:t>
            </a:r>
            <a:endParaRPr lang="en-US" sz="3000" dirty="0"/>
          </a:p>
        </p:txBody>
      </p:sp>
      <p:sp>
        <p:nvSpPr>
          <p:cNvPr id="3" name="Karta"/>
          <p:cNvSpPr/>
          <p:nvPr/>
        </p:nvSpPr>
        <p:spPr>
          <a:xfrm>
            <a:off x="457200" y="1371600"/>
            <a:ext cx="256032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Xorijiy olimlar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7744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[Asosiy mualliflar va ularning ishlari]</a:t>
            </a:r>
            <a:endParaRPr lang="en-US" sz="1400" dirty="0"/>
          </a:p>
        </p:txBody>
      </p:sp>
      <p:sp>
        <p:nvSpPr>
          <p:cNvPr id="6" name="Karta"/>
          <p:cNvSpPr/>
          <p:nvPr/>
        </p:nvSpPr>
        <p:spPr>
          <a:xfrm>
            <a:off x="3291840" y="1371600"/>
            <a:ext cx="256032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Mahalliy olimlar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37744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[O'zbekistonlik tadqiqotchilar ishlari]</a:t>
            </a:r>
            <a:endParaRPr lang="en-US" sz="1400" dirty="0"/>
          </a:p>
        </p:txBody>
      </p:sp>
      <p:sp>
        <p:nvSpPr>
          <p:cNvPr id="9" name="Karta"/>
          <p:cNvSpPr/>
          <p:nvPr/>
        </p:nvSpPr>
        <p:spPr>
          <a:xfrm>
            <a:off x="6126480" y="1371600"/>
            <a:ext cx="2560320" cy="3108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645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Ochiq qolgan masalalar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37744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[Yetarlicha o'rganilmagan jihatlar va ishning farqi]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Ustuvor yo'nalishga muvofiqlik</a:t>
            </a:r>
            <a:endParaRPr lang="en-US" sz="3000" dirty="0"/>
          </a:p>
        </p:txBody>
      </p:sp>
      <p:sp>
        <p:nvSpPr>
          <p:cNvPr id="3" name="Karta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aqam doirasi"/>
          <p:cNvSpPr/>
          <p:nvPr/>
        </p:nvSpPr>
        <p:spPr>
          <a:xfrm>
            <a:off x="731520" y="1618488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18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371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Ixtisoslik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3716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Tanlangan ixtisoslikning ilmiy yo'nalishi va shifri</a:t>
            </a:r>
            <a:endParaRPr lang="en-US" sz="1400" dirty="0"/>
          </a:p>
        </p:txBody>
      </p:sp>
      <p:sp>
        <p:nvSpPr>
          <p:cNvPr id="8" name="Karta"/>
          <p:cNvSpPr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aqam doirasi"/>
          <p:cNvSpPr/>
          <p:nvPr/>
        </p:nvSpPr>
        <p:spPr>
          <a:xfrm>
            <a:off x="731520" y="2670048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423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Ustuvor yo'nalish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4231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Ilmiy-texnik yoki ijtimoiy-iqtisodiy ustuvorliklar bilan bog'liqlik</a:t>
            </a:r>
            <a:endParaRPr lang="en-US" sz="1400" dirty="0"/>
          </a:p>
        </p:txBody>
      </p:sp>
      <p:sp>
        <p:nvSpPr>
          <p:cNvPr id="13" name="Karta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aqam doirasi"/>
          <p:cNvSpPr/>
          <p:nvPr/>
        </p:nvSpPr>
        <p:spPr>
          <a:xfrm>
            <a:off x="731520" y="3721608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721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474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Ilmiy muammo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34747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Mavzuning mavjud ilmiy muammolarni hal qilishdagi o'rni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Tadqiqot metodlari</a:t>
            </a:r>
            <a:endParaRPr lang="en-US" sz="3000" dirty="0"/>
          </a:p>
        </p:txBody>
      </p:sp>
      <p:sp>
        <p:nvSpPr>
          <p:cNvPr id="3" name="Karta"/>
          <p:cNvSpPr/>
          <p:nvPr/>
        </p:nvSpPr>
        <p:spPr>
          <a:xfrm>
            <a:off x="457200" y="1371600"/>
            <a:ext cx="4023360" cy="6583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elgi"/>
          <p:cNvSpPr/>
          <p:nvPr/>
        </p:nvSpPr>
        <p:spPr>
          <a:xfrm>
            <a:off x="685800" y="1591056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3716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 va sintez</a:t>
            </a:r>
            <a:endParaRPr lang="en-US" sz="1600" dirty="0"/>
          </a:p>
        </p:txBody>
      </p:sp>
      <p:sp>
        <p:nvSpPr>
          <p:cNvPr id="6" name="Karta"/>
          <p:cNvSpPr/>
          <p:nvPr/>
        </p:nvSpPr>
        <p:spPr>
          <a:xfrm>
            <a:off x="4663440" y="1371600"/>
            <a:ext cx="4023360" cy="6583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Belgi"/>
          <p:cNvSpPr/>
          <p:nvPr/>
        </p:nvSpPr>
        <p:spPr>
          <a:xfrm>
            <a:off x="4892040" y="1591056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0" y="13716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Qiyosiy tahlil</a:t>
            </a:r>
            <a:endParaRPr lang="en-US" sz="1600" dirty="0"/>
          </a:p>
        </p:txBody>
      </p:sp>
      <p:sp>
        <p:nvSpPr>
          <p:cNvPr id="9" name="Karta"/>
          <p:cNvSpPr/>
          <p:nvPr/>
        </p:nvSpPr>
        <p:spPr>
          <a:xfrm>
            <a:off x="457200" y="2157984"/>
            <a:ext cx="4023360" cy="6583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elgi"/>
          <p:cNvSpPr/>
          <p:nvPr/>
        </p:nvSpPr>
        <p:spPr>
          <a:xfrm>
            <a:off x="685800" y="2377440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215798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tahlil</a:t>
            </a:r>
            <a:endParaRPr lang="en-US" sz="1600" dirty="0"/>
          </a:p>
        </p:txBody>
      </p:sp>
      <p:sp>
        <p:nvSpPr>
          <p:cNvPr id="12" name="Karta"/>
          <p:cNvSpPr/>
          <p:nvPr/>
        </p:nvSpPr>
        <p:spPr>
          <a:xfrm>
            <a:off x="4663440" y="2157984"/>
            <a:ext cx="4023360" cy="6583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elgi"/>
          <p:cNvSpPr/>
          <p:nvPr/>
        </p:nvSpPr>
        <p:spPr>
          <a:xfrm>
            <a:off x="4892040" y="2377440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0" y="215798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So'rovnoma va intervyu</a:t>
            </a:r>
            <a:endParaRPr lang="en-US" sz="1600" dirty="0"/>
          </a:p>
        </p:txBody>
      </p:sp>
      <p:sp>
        <p:nvSpPr>
          <p:cNvPr id="15" name="Karta"/>
          <p:cNvSpPr/>
          <p:nvPr/>
        </p:nvSpPr>
        <p:spPr>
          <a:xfrm>
            <a:off x="457200" y="2944368"/>
            <a:ext cx="4023360" cy="6583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elgi"/>
          <p:cNvSpPr/>
          <p:nvPr/>
        </p:nvSpPr>
        <p:spPr>
          <a:xfrm>
            <a:off x="685800" y="3163824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294436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Tajriba-sinov ishlari</a:t>
            </a:r>
            <a:endParaRPr lang="en-US" sz="1600" dirty="0"/>
          </a:p>
        </p:txBody>
      </p:sp>
      <p:sp>
        <p:nvSpPr>
          <p:cNvPr id="18" name="Karta"/>
          <p:cNvSpPr/>
          <p:nvPr/>
        </p:nvSpPr>
        <p:spPr>
          <a:xfrm>
            <a:off x="4663440" y="2944368"/>
            <a:ext cx="4023360" cy="6583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elgi"/>
          <p:cNvSpPr/>
          <p:nvPr/>
        </p:nvSpPr>
        <p:spPr>
          <a:xfrm>
            <a:off x="4892040" y="3163824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03520" y="294436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 modellashtirish</a:t>
            </a:r>
            <a:endParaRPr lang="en-US" sz="1600" dirty="0"/>
          </a:p>
        </p:txBody>
      </p:sp>
      <p:sp>
        <p:nvSpPr>
          <p:cNvPr id="21" name="Karta"/>
          <p:cNvSpPr/>
          <p:nvPr/>
        </p:nvSpPr>
        <p:spPr>
          <a:xfrm>
            <a:off x="457200" y="3730752"/>
            <a:ext cx="4023360" cy="6583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Belgi"/>
          <p:cNvSpPr/>
          <p:nvPr/>
        </p:nvSpPr>
        <p:spPr>
          <a:xfrm>
            <a:off x="685800" y="3950208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97280" y="373075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Kontent-tahlil</a:t>
            </a:r>
            <a:endParaRPr lang="en-US" sz="1600" dirty="0"/>
          </a:p>
        </p:txBody>
      </p:sp>
      <p:sp>
        <p:nvSpPr>
          <p:cNvPr id="24" name="Karta"/>
          <p:cNvSpPr/>
          <p:nvPr/>
        </p:nvSpPr>
        <p:spPr>
          <a:xfrm>
            <a:off x="4663440" y="3730752"/>
            <a:ext cx="4023360" cy="6583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Belgi"/>
          <p:cNvSpPr/>
          <p:nvPr/>
        </p:nvSpPr>
        <p:spPr>
          <a:xfrm>
            <a:off x="4892040" y="3950208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03520" y="373075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Maxsus metodlar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526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Metodlar tadqiqot xususiyatiga qarab tanlanadi — keraksizlarini olib tashlang.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Dissertatsiya rejasi</a:t>
            </a:r>
            <a:endParaRPr lang="en-US" sz="3000" dirty="0"/>
          </a:p>
        </p:txBody>
      </p:sp>
      <p:sp>
        <p:nvSpPr>
          <p:cNvPr id="3" name="Karta"/>
          <p:cNvSpPr/>
          <p:nvPr/>
        </p:nvSpPr>
        <p:spPr>
          <a:xfrm>
            <a:off x="457200" y="1371600"/>
            <a:ext cx="1965960" cy="2697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Kirish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Dolzarblik, maqsad, vazifalar, obyekt, predmet, metodlar, yangilik, ahamiyat</a:t>
            </a:r>
            <a:endParaRPr lang="en-US" sz="1200" dirty="0"/>
          </a:p>
        </p:txBody>
      </p:sp>
      <p:sp>
        <p:nvSpPr>
          <p:cNvPr id="6" name="Karta"/>
          <p:cNvSpPr/>
          <p:nvPr/>
        </p:nvSpPr>
        <p:spPr>
          <a:xfrm>
            <a:off x="2560320" y="1371600"/>
            <a:ext cx="1965960" cy="2697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5087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bob. Nazariy-metodologik asoslar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37744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Nazariy asoslar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O'rganilganlik darajasi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Metodologik asoslar</a:t>
            </a:r>
            <a:endParaRPr lang="en-US" sz="1200" dirty="0"/>
          </a:p>
        </p:txBody>
      </p:sp>
      <p:sp>
        <p:nvSpPr>
          <p:cNvPr id="9" name="Karta"/>
          <p:cNvSpPr/>
          <p:nvPr/>
        </p:nvSpPr>
        <p:spPr>
          <a:xfrm>
            <a:off x="4663440" y="1371600"/>
            <a:ext cx="1965960" cy="2697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5087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 bob. Holat va muammo tahlili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37744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Obyektning hozirgi holati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Mavjud holat tahlili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Yechim imkoniyatlari</a:t>
            </a:r>
            <a:endParaRPr lang="en-US" sz="1200" dirty="0"/>
          </a:p>
        </p:txBody>
      </p:sp>
      <p:sp>
        <p:nvSpPr>
          <p:cNvPr id="12" name="Karta"/>
          <p:cNvSpPr/>
          <p:nvPr/>
        </p:nvSpPr>
        <p:spPr>
          <a:xfrm>
            <a:off x="6766560" y="1371600"/>
            <a:ext cx="1965960" cy="2697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15087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 bob. Ilmiy yechim va natijalar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Taklif etilgan yondashuv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Tekshirish va baholash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Amaliyotga tatbiq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xulosalar va tavsiyalar · Foydalanilgan adabiyotlar · Ilovalar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Ilmiy yangilik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Tadqiqot natijasida taklif etiladigan yangi:</a:t>
            </a:r>
            <a:endParaRPr lang="en-US" sz="1600" dirty="0"/>
          </a:p>
        </p:txBody>
      </p:sp>
      <p:sp>
        <p:nvSpPr>
          <p:cNvPr id="4" name="Karta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aqam doirasi"/>
          <p:cNvSpPr/>
          <p:nvPr/>
        </p:nvSpPr>
        <p:spPr>
          <a:xfrm>
            <a:off x="731520" y="199339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288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Ilmiy xulosa yoki nazariy yondashuv: [yozing]</a:t>
            </a:r>
            <a:endParaRPr lang="en-US" sz="1800" dirty="0"/>
          </a:p>
        </p:txBody>
      </p:sp>
      <p:sp>
        <p:nvSpPr>
          <p:cNvPr id="8" name="Karta"/>
          <p:cNvSpPr/>
          <p:nvPr/>
        </p:nvSpPr>
        <p:spPr>
          <a:xfrm>
            <a:off x="457200" y="2697480"/>
            <a:ext cx="822960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aqam doirasi"/>
          <p:cNvSpPr/>
          <p:nvPr/>
        </p:nvSpPr>
        <p:spPr>
          <a:xfrm>
            <a:off x="731520" y="286207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862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974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yoki mexanizm: [yozing]</a:t>
            </a:r>
            <a:endParaRPr lang="en-US" sz="1800" dirty="0"/>
          </a:p>
        </p:txBody>
      </p:sp>
      <p:sp>
        <p:nvSpPr>
          <p:cNvPr id="12" name="Karta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Raqam doirasi"/>
          <p:cNvSpPr/>
          <p:nvPr/>
        </p:nvSpPr>
        <p:spPr>
          <a:xfrm>
            <a:off x="731520" y="373075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5661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Metodika yoki qonuniyat: [yozing]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va amaliy ahamiyat</a:t>
            </a:r>
            <a:endParaRPr lang="en-US" sz="3000" dirty="0"/>
          </a:p>
        </p:txBody>
      </p:sp>
      <p:sp>
        <p:nvSpPr>
          <p:cNvPr id="3" name="Karta"/>
          <p:cNvSpPr/>
          <p:nvPr/>
        </p:nvSpPr>
        <p:spPr>
          <a:xfrm>
            <a:off x="457200" y="1371600"/>
            <a:ext cx="402336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ahamiyat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Ilm-fan rivojiga qo'shilgan hissa, tushuncha va yondashuvlarni boyitish.</a:t>
            </a:r>
            <a:endParaRPr lang="en-US" sz="1600" dirty="0"/>
          </a:p>
        </p:txBody>
      </p:sp>
      <p:sp>
        <p:nvSpPr>
          <p:cNvPr id="6" name="Karta"/>
          <p:cNvSpPr/>
          <p:nvPr/>
        </p:nvSpPr>
        <p:spPr>
          <a:xfrm>
            <a:off x="4663440" y="1371600"/>
            <a:ext cx="4023360" cy="31089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645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ahamiyat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228600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Natijalarni amaliyotda qo'llash imkoniyatlari, joriy etish sohalari.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Ish jadvali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486400"/>
                <a:gridCol w="2103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Bajariladigan ish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Muddat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Ilmiy adabiyotlarni o'rganish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1–3-oylar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Nazariy-metodologik asoslarni ishlab chiqish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4–6-oylar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Ma'lumotlarni yig'ish va tahlil qilish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7–10-oylar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Ilmiy yechim va takliflarni ishlab chiqish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11–14-oylar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Natijalarni tekshirish va maqolalar tayyorlash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15–18-oylar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Dissertatsiya matnini yakunlash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Belgilangan muddatda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Kutilayotgan natijalar</a:t>
            </a:r>
            <a:endParaRPr lang="en-US" sz="3000" dirty="0"/>
          </a:p>
        </p:txBody>
      </p:sp>
      <p:sp>
        <p:nvSpPr>
          <p:cNvPr id="3" name="Karta"/>
          <p:cNvSpPr/>
          <p:nvPr/>
        </p:nvSpPr>
        <p:spPr>
          <a:xfrm>
            <a:off x="457200" y="1463040"/>
            <a:ext cx="19659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6916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[3–5]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060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ilmiy maqola</a:t>
            </a:r>
            <a:endParaRPr lang="en-US" sz="1400" dirty="0"/>
          </a:p>
        </p:txBody>
      </p:sp>
      <p:sp>
        <p:nvSpPr>
          <p:cNvPr id="6" name="Karta"/>
          <p:cNvSpPr/>
          <p:nvPr/>
        </p:nvSpPr>
        <p:spPr>
          <a:xfrm>
            <a:off x="2560320" y="1463040"/>
            <a:ext cx="19659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6916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[2–3]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6060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konferensiya materiali</a:t>
            </a:r>
            <a:endParaRPr lang="en-US" sz="1400" dirty="0"/>
          </a:p>
        </p:txBody>
      </p:sp>
      <p:sp>
        <p:nvSpPr>
          <p:cNvPr id="9" name="Karta"/>
          <p:cNvSpPr/>
          <p:nvPr/>
        </p:nvSpPr>
        <p:spPr>
          <a:xfrm>
            <a:off x="4663440" y="1463040"/>
            <a:ext cx="19659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6916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6060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yoki metodika</a:t>
            </a:r>
            <a:endParaRPr lang="en-US" sz="1400" dirty="0"/>
          </a:p>
        </p:txBody>
      </p:sp>
      <p:sp>
        <p:nvSpPr>
          <p:cNvPr id="12" name="Karta"/>
          <p:cNvSpPr/>
          <p:nvPr/>
        </p:nvSpPr>
        <p:spPr>
          <a:xfrm>
            <a:off x="6766560" y="1463040"/>
            <a:ext cx="19659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6916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6060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tavsiyalar to'plami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Natijalarni amaliyotga joriy etish imkoniyatlari va yangi ilmiy xulosalar ham kutiladi.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ilmiy manbalar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[Muallif F.I. Asar nomi. Shahar: Nashriyot, yil.]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[Muallif F.I. Maqola nomi // Jurnal. Yil. №.]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[Me'yoriy-huquqiy hujjat nomi]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[Xorijiy manba: Author. Title. Publisher, year.]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[Ishonchli elektron resurs: havola]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E'tiboringiz uchun rahmat!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 va takliflar uchun tayyorman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sertatsiya">
  <a:themeElements>
    <a:clrScheme name="Dissertatsiya">
      <a:dk1>
        <a:srgbClr val="1B2A33"/>
      </a:dk1>
      <a:lt1>
        <a:srgbClr val="FFFFFF"/>
      </a:lt1>
      <a:dk2>
        <a:srgbClr val="0F3D3E"/>
      </a:dk2>
      <a:lt2>
        <a:srgbClr val="EEF3F2"/>
      </a:lt2>
      <a:accent1>
        <a:srgbClr val="0F3D3E"/>
      </a:accent1>
      <a:accent2>
        <a:srgbClr val="C8963E"/>
      </a:accent2>
      <a:accent3>
        <a:srgbClr val="2F7F79"/>
      </a:accent3>
      <a:accent4>
        <a:srgbClr val="6B7C85"/>
      </a:accent4>
      <a:accent5>
        <a:srgbClr val="8A5A2B"/>
      </a:accent5>
      <a:accent6>
        <a:srgbClr val="A7BEAE"/>
      </a:accent6>
      <a:hlink>
        <a:srgbClr val="2F7F79"/>
      </a:hlink>
      <a:folHlink>
        <a:srgbClr val="6B7C85"/>
      </a:folHlink>
    </a:clrScheme>
    <a:fontScheme name="Dissertatsiy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Dissertatsiya rejasining mufassal loyihasi</dc:title>
  <dc:subject>PptxGenJS Presentation</dc:subject>
  <dc:creator>PptxGenJS</dc:creator>
  <cp:lastModifiedBy>PptxGenJS</cp:lastModifiedBy>
  <cp:revision>1</cp:revision>
  <dcterms:created xsi:type="dcterms:W3CDTF">2026-10-10T12:19:17Z</dcterms:created>
  <dcterms:modified xsi:type="dcterms:W3CDTF">2026-10-10T12:19:17Z</dcterms:modified>
</cp:coreProperties>
</file>
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74" r:id="rId25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Jami shoʻrlangan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7.603</c:v>
                </c:pt>
                <c:pt idx="1">
                  <c:v>7.64</c:v>
                </c:pt>
                <c:pt idx="2">
                  <c:v>6.689</c:v>
                </c:pt>
                <c:pt idx="3">
                  <c:v>6.689</c:v>
                </c:pt>
                <c:pt idx="4">
                  <c:v>6.8</c:v>
                </c:pt>
                <c:pt idx="5">
                  <c:v>8.08</c:v>
                </c:pt>
                <c:pt idx="6">
                  <c:v>6.63</c:v>
                </c:pt>
                <c:pt idx="7">
                  <c:v>6.21</c:v>
                </c:pt>
                <c:pt idx="8">
                  <c:v>5.68</c:v>
                </c:pt>
                <c:pt idx="9">
                  <c:v>5.44</c:v>
                </c:pt>
                <c:pt idx="10">
                  <c:v>5.26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30.5</c:v>
                </c:pt>
                <c:pt idx="1">
                  <c:v>24.8</c:v>
                </c:pt>
                <c:pt idx="2">
                  <c:v>26.8</c:v>
                </c:pt>
                <c:pt idx="3">
                  <c:v>26.6</c:v>
                </c:pt>
                <c:pt idx="4">
                  <c:v>32.6</c:v>
                </c:pt>
                <c:pt idx="5">
                  <c:v>33.8</c:v>
                </c:pt>
                <c:pt idx="6">
                  <c:v>35.4</c:v>
                </c:pt>
                <c:pt idx="7">
                  <c:v>37.0</c:v>
                </c:pt>
                <c:pt idx="8">
                  <c:v>39.3</c:v>
                </c:pt>
                <c:pt idx="9">
                  <c:v>35.1</c:v>
                </c:pt>
                <c:pt idx="10">
                  <c:v>46.6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Gʻalla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62.7</c:v>
                </c:pt>
                <c:pt idx="1">
                  <c:v>65.2</c:v>
                </c:pt>
                <c:pt idx="2">
                  <c:v>63.6</c:v>
                </c:pt>
                <c:pt idx="3">
                  <c:v>65.5</c:v>
                </c:pt>
                <c:pt idx="4">
                  <c:v>70.6</c:v>
                </c:pt>
                <c:pt idx="5">
                  <c:v>71.1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1"/>
            <c:spPr>
              <a:solidFill>
                <a:srgbClr val="A4521D"/>
              </a:solidFill>
            </c:spPr>
          </c:dPt>
          <c:cat>
            <c:strRef>
              <c:f>Sheet1!$A$2:$A$14</c:f>
              <c:strCache>
                <c:ptCount val="13"/>
                <c:pt idx="0">
                  <c:v>Jalaquduq</c:v>
                </c:pt>
                <c:pt idx="1">
                  <c:v>Qoʻrgʻontepa</c:v>
                </c:pt>
                <c:pt idx="2">
                  <c:v>Baliqchi</c:v>
                </c:pt>
                <c:pt idx="3">
                  <c:v>Marhamat</c:v>
                </c:pt>
                <c:pt idx="4">
                  <c:v>Oltinkoʻl</c:v>
                </c:pt>
                <c:pt idx="5">
                  <c:v>Xoʻjaobod</c:v>
                </c:pt>
                <c:pt idx="6">
                  <c:v>Paxtaobod</c:v>
                </c:pt>
                <c:pt idx="7">
                  <c:v>Buloqboshi</c:v>
                </c:pt>
                <c:pt idx="8">
                  <c:v>Andijon</c:v>
                </c:pt>
                <c:pt idx="9">
                  <c:v>Izboskan</c:v>
                </c:pt>
                <c:pt idx="10">
                  <c:v>Shahrixon</c:v>
                </c:pt>
                <c:pt idx="11">
                  <c:v>Ulugʻnor</c:v>
                </c:pt>
                <c:pt idx="12">
                  <c:v>Boʻston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50.0</c:v>
                </c:pt>
                <c:pt idx="1">
                  <c:v>48.5</c:v>
                </c:pt>
                <c:pt idx="2">
                  <c:v>48.0</c:v>
                </c:pt>
                <c:pt idx="3">
                  <c:v>48.0</c:v>
                </c:pt>
                <c:pt idx="4">
                  <c:v>48.0</c:v>
                </c:pt>
                <c:pt idx="5">
                  <c:v>47.2</c:v>
                </c:pt>
                <c:pt idx="6">
                  <c:v>47.0</c:v>
                </c:pt>
                <c:pt idx="7">
                  <c:v>46.4</c:v>
                </c:pt>
                <c:pt idx="8">
                  <c:v>46.3</c:v>
                </c:pt>
                <c:pt idx="9">
                  <c:v>45.9</c:v>
                </c:pt>
                <c:pt idx="10">
                  <c:v>45.9</c:v>
                </c:pt>
                <c:pt idx="11">
                  <c:v>43.2</c:v>
                </c:pt>
                <c:pt idx="12">
                  <c:v>42.9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Ilmiy ishim mavzusi: Gʻarbiy Fargʻonaning tuproq-meliorativ sharoitlari va oʻzgarishlarini GAT asosida bashoratlash. Quyida dissertatsiya rejasining mufassal loyihasini taqdim etaman.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Mavzuning dolzarbligini uch yoʻnalishda asoslayman: shoʻrlanish xavfi, suv tanqisligi va zamonaviy raqamli monitoringga ehtiyoj. Bu yerda tegishli davlat dasturi yoki farmonni aniq keltirish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muammoni bitta jumlada aytaman: hudud uchun baholash va bashoratni birlashtirgan GAT modeli yetishmaydi.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Maqsad bitta, unga erishish uchun olti vazifa qoʻyilgan. Har bir vazifa keyinchalik dissertatsiyaning muayyan paragrafiga mos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Obyekt — tuproqlarning oʻzi, predmet — ularning oʻzgarishi va bashorat usullari. Hudud chegarasini aniq tumanlar nomi bilan koʻrsatish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yangilikning toʻrt jihati: maʼlumotlar bazasi, kalibrlangan indekslar, qonuniyatlar va gibrid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holatlar dastlabki ilmiy faraz sifatida shakllantirilgan; aniqlik koʻrsatkichi tadqiqot natijalariga koʻra toʻldiriladi.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Tadqiqot besh turdagi maʼlumotga tayanadi: kosmik suratlar, relyef modeli, meliorativ kadastr, dala namunalari va meteorologik maʼlumotlar.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 besh bosqichdan iborat: maʼlumot yigʻishdan boshlab bashorat xaritalarigacha.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Dissertatsiya kirish, toʻrt bob, xulosa, adabiyotlar va ilovalardan iborat. Keyingi ikki slaydda boblar paragraflari keltirilgan.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Birinchi bob nazariy va hududiy asos, ikkinchi bob — metodik 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Uchinchi bob — tahliliy, toʻrtinchi bob — bashorat va tavsiyalar. Asosiy ilmiy natijalar shu ikki bobda.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Natijalar ham ilmiy, ham amaliy tomondan foydali: maʼlumotlar bazasi va xaritalar suv xoʻjaligi tashkilotlari va fermerlar uchun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Ish uch yilga moʻljallangan; har bir yil yakunida aniq bob va nashr natijasi koʻzda tutilgan. Yillarni doktorantura muddatiga moslab tuzating.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Nashrlar soni ixtisoslik boʻyicha OAK talablariga koʻra belgilanadi; raqamlarni ilmiy rahbar bilan kelishib toʻldiring.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Savollaringizga javob berishga tayyorman.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863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DISSERTATSIYA REJASINING MUFASSAL LOYIHASI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280120"/>
            <a:ext cx="8633460" cy="221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tuproq-meliorativ sharoitlari va oʻzgarishlarini GAT asosida bashoratlash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12800" y="3728641"/>
            <a:ext cx="863346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Ustuvor ixtisosliklar boʻyicha ilmiy ish mavzusi taqdimoti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12800" y="5026124"/>
            <a:ext cx="10566400" cy="0"/>
          </a:xfrm>
          <a:prstGeom prst="line">
            <a:avLst/>
          </a:prstGeom>
          <a:noFill/>
          <a:ln w="6350">
            <a:solidFill>
              <a:srgbClr val="3E50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Izlanuvchi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052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Ilmiy rahbar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052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[F.I.Sh., ilmiy daraja]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976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Ixtisoslik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76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[shifr — nomi]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900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Tashkilot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90000" y="5547420"/>
            <a:ext cx="256387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[OTM / ilmiy muassasa],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Mavzuning dolzarbligi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0350"/>
            <a:ext cx="91567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Sugʻoriladigan yerlarning meliorativ holati tez oʻzgaradi. Uni oʻz vaqtida baholash va oldindan bashorat qilish — yer va suv resurslaridan barqaror foydalanishning asosiy sharti.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3214836"/>
            <a:ext cx="3380284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150" y="3472011"/>
            <a:ext cx="406400" cy="38100"/>
          </a:xfrm>
          <a:prstGeom prst="rect">
            <a:avLst/>
          </a:prstGeom>
          <a:solidFill>
            <a:srgbClr val="A4521D"/>
          </a:solidFill>
          <a:ln/>
        </p:spPr>
      </p:sp>
      <p:sp>
        <p:nvSpPr>
          <p:cNvPr id="7" name="Text 5"/>
          <p:cNvSpPr/>
          <p:nvPr/>
        </p:nvSpPr>
        <p:spPr>
          <a:xfrm>
            <a:off x="1073150" y="3611711"/>
            <a:ext cx="295191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 xavfi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3150" y="3957141"/>
            <a:ext cx="2951912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 ikkilamchi shoʻrlanishni kuchaytiradi.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5809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2984" y="3472011"/>
            <a:ext cx="406400" cy="38100"/>
          </a:xfrm>
          <a:prstGeom prst="rect">
            <a:avLst/>
          </a:prstGeom>
          <a:solidFill>
            <a:srgbClr val="2C6A85"/>
          </a:solidFill>
          <a:ln/>
        </p:spPr>
      </p:sp>
      <p:sp>
        <p:nvSpPr>
          <p:cNvPr id="11" name="Text 9"/>
          <p:cNvSpPr/>
          <p:nvPr/>
        </p:nvSpPr>
        <p:spPr>
          <a:xfrm>
            <a:off x="4662984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Suv tanqisligi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2984" y="3957141"/>
            <a:ext cx="295196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Cheklangan suv resurslari sharoitida har bir gektardan samarali foydalanish talab etiladi.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95692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52867" y="3472011"/>
            <a:ext cx="406400" cy="38100"/>
          </a:xfrm>
          <a:prstGeom prst="rect">
            <a:avLst/>
          </a:prstGeom>
          <a:solidFill>
            <a:srgbClr val="1D2A24"/>
          </a:solidFill>
          <a:ln/>
        </p:spPr>
      </p:sp>
      <p:sp>
        <p:nvSpPr>
          <p:cNvPr id="15" name="Text 13"/>
          <p:cNvSpPr/>
          <p:nvPr/>
        </p:nvSpPr>
        <p:spPr>
          <a:xfrm>
            <a:off x="8252867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Raqamli 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52867" y="3957141"/>
            <a:ext cx="2951963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Anʼanaviy dala kuzatuvlari keng hududni tez qamrab ololmaydi — GAT va masofadan zondlash bu boʻshliqni toʻldiradi.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48943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 asos: [tegishli farmon / qaror raqami va sanasi]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45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ILMIY MUAMMO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86310"/>
            <a:ext cx="981075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0" i="0" dirty="0">
                <a:solidFill>
                  <a:srgbClr val="F8F1E7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 uchun tuproq-meliorativ holatning fazoviy-vaqtli oʻzgarishini yagona tizimda baholovchi va kelajakka bashorat qiluvchi GAT modeli hali yetarli darajada ishlab chiqilmagan.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Ushbu tadqiqot aynan shu boʻshliqni toʻldirishga qaratilgan.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Maqsad va vazifalar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79550"/>
            <a:ext cx="3810000" cy="3316982"/>
          </a:xfrm>
          <a:prstGeom prst="roundRect">
            <a:avLst>
              <a:gd name="adj" fmla="val 3063"/>
            </a:avLst>
          </a:prstGeom>
          <a:solidFill>
            <a:srgbClr val="1D2A24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184350"/>
            <a:ext cx="32964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MAQSAD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550071"/>
            <a:ext cx="3296412" cy="1892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tuproqlarining meliorativ holatini GAT va masofadan zondlash maʼlumotlari asosida baholash, oʻzgarish qonuniyatlarini aniqlash va [2030–2035]-yillarga bashorat modelini ishlab chiqish.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87955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VAZIFALAR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2207171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35600" y="2207171"/>
            <a:ext cx="67564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Hududning tabiiy-meliorativ sharoitlari va tuproq qoplamini tahlil qilish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257036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35600" y="257036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kosmik suratlar va meliorativ kadastr maʼlumotlarining GAT bazasini yaratish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316468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35600" y="316468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dinamikasini aniqlash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759002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5600" y="3759002"/>
            <a:ext cx="61219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omillarni statistik baholash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412219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35600" y="412219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(CA–Markov, mashinali oʻqitish) qurish va aniqligini tekshirish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471651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35600" y="471651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xaritalar va tavsiyalar ishlab chiqish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33782" y="6238280"/>
            <a:ext cx="2454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Obyekt, predmet va hudud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3525"/>
            <a:ext cx="3380284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16100"/>
            <a:ext cx="2899588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8550" y="2840930"/>
            <a:ext cx="28995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obyekti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211761"/>
            <a:ext cx="289958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Fargʻonaning sugʻoriladigan tuproqlari va ularning meliorativ holati.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384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88384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predmeti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8384" y="3211761"/>
            <a:ext cx="2899639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oʻzgarishi hamda ularni GAT asosida modellashtirish va bashoratlash usullari.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8267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78267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hududi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8267" y="3211761"/>
            <a:ext cx="2899639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Fargʻona vodiysining gʻarbiy qismi: [oʻrganiladigan viloyat va tumanlar roʻyxati].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41819" y="6238280"/>
            <a:ext cx="2373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Ilmiy yangilik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002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uchun ilk bor koʻp yillik tuproq-meliorativ holat GAT maʼlumotlar bazasi yaratiladi.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8" name="Text 6"/>
          <p:cNvSpPr/>
          <p:nvPr/>
        </p:nvSpPr>
        <p:spPr>
          <a:xfrm>
            <a:off x="64516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850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Spektral shoʻrlanish indekslari (SI, NDSI) dala tahlillari bilan hudud sharoitiga moslab kalibrlanadi.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 oʻzgarishining fazoviy-vaqtli qonuniyatlari va asosiy omillari aniqlanadi.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76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516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850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CA–Markov va Random Forest asosidagi gibrid bashorat modeli taklif etiladi.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Himoyaga olib chiqiladigan holatlar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27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0891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25600" y="20891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indekslari va dala tahlillari asosida kalibrlangan modellar hudud tuproqlari shoʻrlanishini [__]% aniqlikda baholash imkonini beradi.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8288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03525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25600" y="303525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holat oʻzgarishi relyef, sizot suvlari chuqurligi va sugʻorish tartibi bilan bogʻliq boʻlib, hudud boʻyicha differensial namoyon boʻladi.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750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800" y="47211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39814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25600" y="39814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Gibrid model [2030–2035]-yillarga meliorativ holat bashoratini beradi va meliorativ tadbirlarni rejalashtirishga asos boʻladi.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48963" y="6238280"/>
            <a:ext cx="230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Maʼlumotlar manbalari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41450"/>
          <a:ext cx="10553700" cy="3509962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Manba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Mazmuni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Qoʻllanilishi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Landsat 5/7/8/9, Sentinel-2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Koʻp spektrli kosmik suratlar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va oʻsimlik indekslari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SRTM / ALOS DEM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Relyefning raqamli modeli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Nishablik, oqim, TWI indeksi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Meliorativ kadastr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Sizot suvlari sathi va minerallashuvi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Interpolyatsiya, validatsiya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Dala namunalari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EC, tuz tarkibi, granulometriya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Kalibrlash va aniqlikni baholash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Meteorologik maʼlumotlar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Harorat, yogʻin, bugʻlanish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Omillar tahlili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Viloyat statistik hisobotlari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darajasi, paxta va gʻalla hosildorligi (tumanlar kesimida)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Dinamika va omillar tahlili, modelni kalibrlash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Ekin joylashtirish rejalari (2026)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ta tuman: kontur va fermer kesimida ekin maydonlari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Kontur asosida GAT qatlami, ekin–tuproq bogʻliqligi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305412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Dasturiy taʼminot:</a:t>
            </a: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ArcGIS Pro, QGIS, Google Earth Engine, SNAP, Python (scikit-learn), TerrSet (CA–Markov)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jarayoni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Yigʻish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060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Kosmik suratlar, DEM, meliorativ kadastr, dala namunalari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6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226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1" name="Shape 9"/>
          <p:cNvSpPr/>
          <p:nvPr/>
        </p:nvSpPr>
        <p:spPr>
          <a:xfrm>
            <a:off x="300226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2" name="Text 10"/>
          <p:cNvSpPr/>
          <p:nvPr/>
        </p:nvSpPr>
        <p:spPr>
          <a:xfrm>
            <a:off x="318006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8006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Ishlov berish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0060" y="2826941"/>
            <a:ext cx="150371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Radiometrik va atmosfera tuzatish, geometrik moslashtirish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697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9177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7" name="Shape 15"/>
          <p:cNvSpPr/>
          <p:nvPr/>
        </p:nvSpPr>
        <p:spPr>
          <a:xfrm>
            <a:off x="519177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8" name="Text 16"/>
          <p:cNvSpPr/>
          <p:nvPr/>
        </p:nvSpPr>
        <p:spPr>
          <a:xfrm>
            <a:off x="536957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6957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tahlili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6957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SI, NDSI, NDVI indekslari; kriging va IDW interpolyatsiya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643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8123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8123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24" name="Text 22"/>
          <p:cNvSpPr/>
          <p:nvPr/>
        </p:nvSpPr>
        <p:spPr>
          <a:xfrm>
            <a:off x="755903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903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Modellash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59030" y="2826941"/>
            <a:ext cx="150371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Regressiya, Random Forest, CA–Markov; Kappa va RMSE bilan tekshirish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6594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7074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1D2A2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7074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E3925A"/>
          </a:solidFill>
          <a:ln/>
        </p:spPr>
      </p:sp>
      <p:sp>
        <p:nvSpPr>
          <p:cNvPr id="30" name="Text 28"/>
          <p:cNvSpPr/>
          <p:nvPr/>
        </p:nvSpPr>
        <p:spPr>
          <a:xfrm>
            <a:off x="974854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4854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48540" y="2826941"/>
            <a:ext cx="15036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 ssenariylari, xaritalar, tavsiyalar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426942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 — hudud boʻyicha meliorativ holatning hozirgi va kelajakdagi xaritalari seriyasi.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Dissertatsiya tarkibi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7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Dolzarblik, maqsad va vazifalar, ilmiy yangilik, amaliy ahamiyat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291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Tabiiy-meliorativ sharoitlar va oʻrganilganlik darajasi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05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0550" y="2404021"/>
            <a:ext cx="3021711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maʼlumotlari va usullari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77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sharoitlarning fazoviy-vaqtli oʻzgarishi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291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291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oʻzgarishlarni GAT asosida bashoratlash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5600" y="3296791"/>
            <a:ext cx="3403600" cy="1239441"/>
          </a:xfrm>
          <a:prstGeom prst="roundRect">
            <a:avLst>
              <a:gd name="adj" fmla="val 8197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4200" y="3525391"/>
            <a:ext cx="30347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04200" y="3814911"/>
            <a:ext cx="30347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Xulosalar, tavsiyalar, adabiyotlar roʻyxati va ilovalar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02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 va II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tabiiy-meliorativ sharoitlari va oʻrganilganlik darajasi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tadqiqotlar tarixi va oʻrganilganlik holati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7019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70190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Geologik-geomorfologik va gidrogeologik sharoitlar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40473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40473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Iqlim va gidrografiya omillari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39276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39276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qoplami va sugʻorish-drenaj tizimi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15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41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4150" y="2492921"/>
            <a:ext cx="4696079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maʼlumotlari va usullari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4150" y="2866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6750" y="286628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Dala tadqiqotlari va laboratoriya tahlil usullari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4150" y="321171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6750" y="321171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maʼlumotlari va ularga dastlabki ishlov berish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4150" y="37882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6750" y="37882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maʼlumotlar bazasini shakllantirish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4150" y="41337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6750" y="41337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Fazoviy statistika va bashoratlash modellari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04426" y="6238280"/>
            <a:ext cx="1747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 va IV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2792611"/>
          </a:xfrm>
          <a:prstGeom prst="roundRect">
            <a:avLst>
              <a:gd name="adj" fmla="val 3524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sharoitlarning fazoviy-vaqtli oʻzgarishi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shoʻrlanishi dinamikasi ([2000–2025] yillar)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4707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4707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38162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38162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 tahlili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1616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1616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 meliorativ rayonlashtirish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8400" y="1879550"/>
            <a:ext cx="5130800" cy="2798961"/>
          </a:xfrm>
          <a:prstGeom prst="roundRect">
            <a:avLst>
              <a:gd name="adj" fmla="val 3630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7800" y="215895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7800" y="2486571"/>
            <a:ext cx="4709160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oʻzgarishlarni GAT asosida bashoratlash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7800" y="311899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0400" y="311899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ishlab chiqish va kalibrlash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7800" y="346442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0400" y="346442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aniqligini baholash (Kappa, RMSE, R²)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7800" y="380985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0400" y="380985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[2030–2035]-yillar uchun bashorat ssenariylari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7800" y="4155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0400" y="415528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tavsiyalar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73470" y="6238280"/>
            <a:ext cx="205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Kutilayotgan natijalar va amaliy ahamiyat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KUTILAYOTGAN NATIJALAR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8700" y="2232571"/>
            <a:ext cx="52197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tuproq-meliorativ holat GAT maʼlumotlar bazasi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1228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8700" y="261228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 xaritalari seriyasi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23200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" y="3232001"/>
            <a:ext cx="54356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Kalibrlangan bashorat modeli va [2030–2035] ssenariylari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6117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8700" y="36117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rayonlashtirish xaritasi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84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AMALIY AHAMIYATI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4300" y="223257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Drenaj, yuvish va sugʻorish tartibini rejalashtirish uchun asos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48400" y="285229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64300" y="285229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Gidrogeologik-meliorativ ekspeditsiyalar amaliyotiga joriy etish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8400" y="34720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64300" y="34720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Fermer xoʻjaliklari uchun ekin joylashtirish tavsiyalari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8400" y="385172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4300" y="385172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OTMlarda tuproqshunoslik va GAT fanlarini oʻqitishda foydalanish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2279" y="6238280"/>
            <a:ext cx="2069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Ish rejasi (kalendar)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92250"/>
          <a:ext cx="10553700" cy="3479701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52323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Bosqich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Asosiy ishlar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Natija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[2026–2027]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Adabiyotlar tahlili, maʼlumotlarni yigʻish, birinchi dala mavsumi, GAT bazasi tuzilmasi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 bob qoʻlyozmasi, tezislar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[2027–2028]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Laboratoriya tahlillari, kosmik suratlarni qayta ishlash, dinamika va omillar tahlili, ikkinchi dala mavsumi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II–III boblar, OAK jurnallarida maqolalar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[2028–2029]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Bashorat modelini qurish va tekshirish, tavsiyalar, aprobatsiya, dissertatsiyani rasmiylashtirish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IV bob, joriy etish dalolatnomalari, himoya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167963" y="6238280"/>
            <a:ext cx="211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Aprobatsiya va nashrlar rejasi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668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OAK roʻyxatidagi jurnallarda maqola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528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7528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Xorijiy (Scopus / Web of Science) jurnallarda maqola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389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389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Xalqaro va respublika konferensiyalarida tezis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249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249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EHM dasturi yoki maʼlumotlar bazasi guvohnomasi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25181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Natijalarni joriy etish: </a:t>
            </a:r>
            <a:r>
              <a:rPr lang="en-US" sz="1500" b="1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[tashkilot nomi]</a:t>
            </a: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tomonidan dalolatnoma.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76000" y="6238280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· TUPROQ · GAT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96889"/>
            <a:ext cx="7848600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Eʼtiboringiz uchun rahmat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812800" y="54610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[e-pochta · telefon]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Sugʻoriladigan yerlar shoʻrlanishi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Jami shoʻrlangan sugʻoriladigan yerlar, ming ga (Andijon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750000" cy="3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50000" y="183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0000" y="196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−31%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0000" y="242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shoʻrlangan yer: 7,60 ming ga (2015) → 5,26 ming ga (2025); ulushi 2,9% → 1,9%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50000" y="316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0000" y="329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C6A85"/>
                </a:solidFill>
                <a:latin typeface="Source Serif 4"/>
              </a:rPr>
              <a:t>98,1%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0000" y="375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Shoʻrlanmagan yerlar ulushi 2025 yilda (2015 yilda — 97,0%)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50000" y="449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000" y="462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8,08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000" y="508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Eng yuqori koʻrsatkich — 2020 yil (3,06%); undan keyin barqaror kamayish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sugʻoriladigan yerlarning shoʻrlanish darajasi toʻgʻrisidagi maʼlumot, 2015–2025 yillar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Ekinlar hosildorligi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35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 (amalda), s/ga,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5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96192" y="1830000"/>
            <a:ext cx="4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Gʻalla hosildorligi (sugʻoriladigan), s/ga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36192" y="2130000"/>
          <a:ext cx="43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Tuman kesimida: Ulugʻnor tumanida paxta hosildorligi 2020–2025 yillarda har yili viloyat oʻrtachasidan past (2024 yilda 25,7 s/ga; viloyat — 35,1). Farqning tuproq-meliorativ omillar bilan bogʻliqligi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paxta (2015–2025) va gʻalla (2017–2022) hosili toʻgʻrisidagi maʼlumotlar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Tumanlar kesimidagi maʼlumotlar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49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hosildorligi, 2025 yil, s/ga (tumanlar)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4900000" cy="38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00000" y="1830000"/>
            <a:ext cx="5496192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 rejasi, ga (ekin maydoniga ulushi)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0" y="2150000"/>
            <a:ext cx="5496192" cy="3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000" y="2350000"/>
            <a:ext cx="18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F6B64"/>
                </a:solidFill>
                <a:latin typeface="Inter"/>
              </a:rPr>
              <a:t>Tuman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0000" y="2350000"/>
            <a:ext cx="75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Jami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0000" y="2350000"/>
            <a:ext cx="1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Gʻoʻza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50000" y="2350000"/>
            <a:ext cx="1146192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Bugʻdoy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0" y="280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Jalaquduq (2026)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0000" y="280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17 485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0000" y="280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4 073 · 23%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50000" y="280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6 166 · 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339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Shahrixon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39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16 065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0000" y="339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5 650 · 35%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0000" y="339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6 402 · 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000" y="398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Qoʻrgʻontepa (2026)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8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21 542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0000" y="398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6 618 · 31%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50000" y="398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7 324 · 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000" y="457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Paxtaobod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0000" y="457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15 511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000" y="457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4 450 · 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50000" y="457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6 492 · 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516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Oltinkoʻl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0000" y="516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11 147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0000" y="516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3 740 · 34%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0000" y="516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4 144 · 37%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2025 yil paxta hosili hisoboti; tumanlar ekin joylashtirish rejalari (Oltinkoʻl — 2025 yil hosili)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ʻarbiy Fargʻona tuproqlari — GAT asosida bashoratlash">
  <a:themeElements>
    <a:clrScheme name="Gʻarbiy Fargʻona tuproqlari — GAT asosida bashoratlash">
      <a:dk1>
        <a:srgbClr val="1D2A24"/>
      </a:dk1>
      <a:lt1>
        <a:srgbClr val="F4F1EA"/>
      </a:lt1>
      <a:dk2>
        <a:srgbClr val="535C56"/>
      </a:dk2>
      <a:lt2>
        <a:srgbClr val="DFDDD6"/>
      </a:lt2>
      <a:accent1>
        <a:srgbClr val="A4521D"/>
      </a:accent1>
      <a:accent2>
        <a:srgbClr val="2C6A85"/>
      </a:accent2>
      <a:accent3>
        <a:srgbClr val="E3925A"/>
      </a:accent3>
      <a:accent4>
        <a:srgbClr val="8CC3DB"/>
      </a:accent4>
      <a:accent5>
        <a:srgbClr val="F6DCC6"/>
      </a:accent5>
      <a:accent6>
        <a:srgbClr val="5F6B64"/>
      </a:accent6>
      <a:hlink>
        <a:srgbClr val="0563C1"/>
      </a:hlink>
      <a:folHlink>
        <a:srgbClr val="954F72"/>
      </a:folHlink>
    </a:clrScheme>
    <a:fontScheme name="Gʻarbiy Fargʻona tuproqlari — GAT asosida bashoratlash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Gʻarbiy Fargʻona tuproqlari — GAT asosida bashoratlash</dc:title>
  <dc:subject/>
  <dc:creator/>
  <cp:lastModifiedBy/>
  <cp:revision>1</cp:revision>
  <dcterms:created xsi:type="dcterms:W3CDTF">2026-10-09T02:22:44Z</dcterms:created>
  <dcterms:modified xsi:type="dcterms:W3CDTF">2026-10-09T02:22:44Z</dcterms:modified>
</cp:coreProperties>
</file>
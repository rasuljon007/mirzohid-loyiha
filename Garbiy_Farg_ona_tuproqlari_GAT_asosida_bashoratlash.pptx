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Jami shoʻrlangan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7.603</c:v>
                </c:pt>
                <c:pt idx="1">
                  <c:v>7.64</c:v>
                </c:pt>
                <c:pt idx="2">
                  <c:v>6.689</c:v>
                </c:pt>
                <c:pt idx="3">
                  <c:v>6.689</c:v>
                </c:pt>
                <c:pt idx="4">
                  <c:v>6.8</c:v>
                </c:pt>
                <c:pt idx="5">
                  <c:v>8.08</c:v>
                </c:pt>
                <c:pt idx="6">
                  <c:v>6.63</c:v>
                </c:pt>
                <c:pt idx="7">
                  <c:v>6.21</c:v>
                </c:pt>
                <c:pt idx="8">
                  <c:v>5.68</c:v>
                </c:pt>
                <c:pt idx="9">
                  <c:v>5.44</c:v>
                </c:pt>
                <c:pt idx="10">
                  <c:v>5.26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30.5</c:v>
                </c:pt>
                <c:pt idx="1">
                  <c:v>24.8</c:v>
                </c:pt>
                <c:pt idx="2">
                  <c:v>26.8</c:v>
                </c:pt>
                <c:pt idx="3">
                  <c:v>26.6</c:v>
                </c:pt>
                <c:pt idx="4">
                  <c:v>32.6</c:v>
                </c:pt>
                <c:pt idx="5">
                  <c:v>33.8</c:v>
                </c:pt>
                <c:pt idx="6">
                  <c:v>35.4</c:v>
                </c:pt>
                <c:pt idx="7">
                  <c:v>37.0</c:v>
                </c:pt>
                <c:pt idx="8">
                  <c:v>39.3</c:v>
                </c:pt>
                <c:pt idx="9">
                  <c:v>35.1</c:v>
                </c:pt>
                <c:pt idx="10">
                  <c:v>46.6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Gʻalla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Sheet1!$A$2:$A$7</c:f>
              <c:strCache>
                <c:ptCount val="6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62.7</c:v>
                </c:pt>
                <c:pt idx="1">
                  <c:v>65.2</c:v>
                </c:pt>
                <c:pt idx="2">
                  <c:v>63.6</c:v>
                </c:pt>
                <c:pt idx="3">
                  <c:v>65.5</c:v>
                </c:pt>
                <c:pt idx="4">
                  <c:v>70.6</c:v>
                </c:pt>
                <c:pt idx="5">
                  <c:v>71.1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</c:v>
                </c:pt>
              </c:strCache>
            </c:strRef>
          </c:tx>
          <c:spPr>
            <a:solidFill>
              <a:srgbClr val="2C6A85"/>
            </a:solidFill>
          </c:spPr>
          <c:dPt>
            <c:idx val="11"/>
            <c:spPr>
              <a:solidFill>
                <a:srgbClr val="A4521D"/>
              </a:solidFill>
            </c:spPr>
          </c:dPt>
          <c:cat>
            <c:strRef>
              <c:f>Sheet1!$A$2:$A$14</c:f>
              <c:strCache>
                <c:ptCount val="13"/>
                <c:pt idx="0">
                  <c:v>Jalaquduq</c:v>
                </c:pt>
                <c:pt idx="1">
                  <c:v>Qoʻrgʻontepa</c:v>
                </c:pt>
                <c:pt idx="2">
                  <c:v>Baliqchi</c:v>
                </c:pt>
                <c:pt idx="3">
                  <c:v>Marhamat</c:v>
                </c:pt>
                <c:pt idx="4">
                  <c:v>Oltinkoʻl</c:v>
                </c:pt>
                <c:pt idx="5">
                  <c:v>Xoʻjaobod</c:v>
                </c:pt>
                <c:pt idx="6">
                  <c:v>Paxtaobod</c:v>
                </c:pt>
                <c:pt idx="7">
                  <c:v>Buloqboshi</c:v>
                </c:pt>
                <c:pt idx="8">
                  <c:v>Andijon</c:v>
                </c:pt>
                <c:pt idx="9">
                  <c:v>Izboskan</c:v>
                </c:pt>
                <c:pt idx="10">
                  <c:v>Shahrixon</c:v>
                </c:pt>
                <c:pt idx="11">
                  <c:v>Ulugʻnor</c:v>
                </c:pt>
                <c:pt idx="12">
                  <c:v>Boʻston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50.0</c:v>
                </c:pt>
                <c:pt idx="1">
                  <c:v>48.5</c:v>
                </c:pt>
                <c:pt idx="2">
                  <c:v>48.0</c:v>
                </c:pt>
                <c:pt idx="3">
                  <c:v>48.0</c:v>
                </c:pt>
                <c:pt idx="4">
                  <c:v>48.0</c:v>
                </c:pt>
                <c:pt idx="5">
                  <c:v>47.2</c:v>
                </c:pt>
                <c:pt idx="6">
                  <c:v>47.0</c:v>
                </c:pt>
                <c:pt idx="7">
                  <c:v>46.4</c:v>
                </c:pt>
                <c:pt idx="8">
                  <c:v>46.3</c:v>
                </c:pt>
                <c:pt idx="9">
                  <c:v>45.9</c:v>
                </c:pt>
                <c:pt idx="10">
                  <c:v>45.9</c:v>
                </c:pt>
                <c:pt idx="11">
                  <c:v>43.2</c:v>
                </c:pt>
                <c:pt idx="12">
                  <c:v>42.9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Paxta maydoni</c:v>
                </c:pt>
              </c:strCache>
            </c:strRef>
          </c:tx>
          <c:spPr>
            <a:solidFill>
              <a:srgbClr val="2C6A85"/>
            </a:solidFill>
          </c:spPr>
          <c:dPt>
            <c:idx val="10"/>
            <c:spPr>
              <a:solidFill>
                <a:srgbClr val="A4521D"/>
              </a:solidFill>
            </c:spPr>
          </c:dPt>
          <c:cat>
            <c:strRef>
              <c:f>Sheet1!$A$2:$A$12</c:f>
              <c:strCache>
                <c:ptCount val="11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93.4</c:v>
                </c:pt>
                <c:pt idx="1">
                  <c:v>91.4</c:v>
                </c:pt>
                <c:pt idx="2">
                  <c:v>89.2</c:v>
                </c:pt>
                <c:pt idx="3">
                  <c:v>81.8</c:v>
                </c:pt>
                <c:pt idx="4">
                  <c:v>79.4</c:v>
                </c:pt>
                <c:pt idx="5">
                  <c:v>79.4</c:v>
                </c:pt>
                <c:pt idx="6">
                  <c:v>79.0</c:v>
                </c:pt>
                <c:pt idx="7">
                  <c:v>75.0</c:v>
                </c:pt>
                <c:pt idx="8">
                  <c:v>71.3</c:v>
                </c:pt>
                <c:pt idx="9">
                  <c:v>70.0</c:v>
                </c:pt>
                <c:pt idx="10">
                  <c:v>60.0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9B5AE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5330</c:v>
                </c:pt>
                <c:pt idx="1">
                  <c:v>6341</c:v>
                </c:pt>
                <c:pt idx="2">
                  <c:v>7414</c:v>
                </c:pt>
                <c:pt idx="3">
                  <c:v>5275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C6A85"/>
            </a:solidFill>
          </c:spPr>
          <c:cat>
            <c:strRef>
              <c:f>Sheet1!$A$2:$A$5</c:f>
              <c:strCache>
                <c:ptCount val="4"/>
                <c:pt idx="0">
                  <c:v>Jalaquduq</c:v>
                </c:pt>
                <c:pt idx="1">
                  <c:v>Shahrixon</c:v>
                </c:pt>
                <c:pt idx="2">
                  <c:v>Qoʻrgʻontepa</c:v>
                </c:pt>
                <c:pt idx="3">
                  <c:v>Paxtaobod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4073</c:v>
                </c:pt>
                <c:pt idx="1">
                  <c:v>5650</c:v>
                </c:pt>
                <c:pt idx="2">
                  <c:v>6618</c:v>
                </c:pt>
                <c:pt idx="3">
                  <c:v>4450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1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0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Sheet1!$A$2:$A$11</c:f>
              <c:strCache>
                <c:ptCount val="10"/>
                <c:pt idx="0">
                  <c:v>Texnik (gʻoʻza)</c:v>
                </c:pt>
                <c:pt idx="1">
                  <c:v>Bugʻdoy va boshqa donli</c:v>
                </c:pt>
                <c:pt idx="2">
                  <c:v>Sabzavot</c:v>
                </c:pt>
                <c:pt idx="3">
                  <c:v>Ozuqa (em-xashak)</c:v>
                </c:pt>
                <c:pt idx="4">
                  <c:v>Kartoshka</c:v>
                </c:pt>
                <c:pt idx="5">
                  <c:v>Moyli ekinlar</c:v>
                </c:pt>
                <c:pt idx="6">
                  <c:v>Dukkakli donli</c:v>
                </c:pt>
                <c:pt idx="7">
                  <c:v>Sholi</c:v>
                </c:pt>
                <c:pt idx="8">
                  <c:v>Poliz</c:v>
                </c:pt>
                <c:pt idx="9">
                  <c:v>Boshqalar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71.3</c:v>
                </c:pt>
                <c:pt idx="1">
                  <c:v>70.2</c:v>
                </c:pt>
                <c:pt idx="2">
                  <c:v>45.5</c:v>
                </c:pt>
                <c:pt idx="3">
                  <c:v>35.8</c:v>
                </c:pt>
                <c:pt idx="4">
                  <c:v>14.6</c:v>
                </c:pt>
                <c:pt idx="5">
                  <c:v>14.3</c:v>
                </c:pt>
                <c:pt idx="6">
                  <c:v>13.5</c:v>
                </c:pt>
                <c:pt idx="7">
                  <c:v>10.9</c:v>
                </c:pt>
                <c:pt idx="8">
                  <c:v>3.1</c:v>
                </c:pt>
                <c:pt idx="9">
                  <c:v>2.3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Maydon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Sheet1!$A$2:$A$4</c:f>
              <c:strCache>
                <c:ptCount val="3"/>
                <c:pt idx="0">
                  <c:v>Past (≤40 ball)</c:v>
                </c:pt>
                <c:pt idx="1">
                  <c:v>Oʻrta (41–60)</c:v>
                </c:pt>
                <c:pt idx="2">
                  <c:v>Yuqori (&gt;60)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5811</c:v>
                </c:pt>
                <c:pt idx="1">
                  <c:v>12771</c:v>
                </c:pt>
                <c:pt idx="2">
                  <c:v>2425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5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Suv</c:v>
                </c:pt>
              </c:strCache>
            </c:strRef>
          </c:tx>
          <c:spPr>
            <a:solidFill>
              <a:srgbClr val="2C6A85"/>
            </a:solidFill>
          </c:spPr>
          <c:dPt>
            <c:idx val="0"/>
            <c:spPr>
              <a:solidFill>
                <a:srgbClr val="A4521D"/>
              </a:solidFill>
            </c:spPr>
          </c:dPt>
          <c:cat>
            <c:strRef>
              <c:f>Sheet1!$A$2:$A$6</c:f>
              <c:strCache>
                <c:ptCount val="5"/>
                <c:pt idx="0">
                  <c:v>2019–20</c:v>
                </c:pt>
                <c:pt idx="1">
                  <c:v>2020–21</c:v>
                </c:pt>
                <c:pt idx="2">
                  <c:v>2021–22</c:v>
                </c:pt>
                <c:pt idx="3">
                  <c:v>2022–23</c:v>
                </c:pt>
                <c:pt idx="4">
                  <c:v>2023–24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3181.6</c:v>
                </c:pt>
                <c:pt idx="1">
                  <c:v>2366.1</c:v>
                </c:pt>
                <c:pt idx="2">
                  <c:v>2414.9</c:v>
                </c:pt>
                <c:pt idx="3">
                  <c:v>2414.9</c:v>
                </c:pt>
                <c:pt idx="4">
                  <c:v>2226.0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8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Rezaksoy</c:v>
                </c:pt>
              </c:strCache>
            </c:strRef>
          </c:tx>
          <c:spPr>
            <a:ln w="31750">
              <a:solidFill>
                <a:srgbClr val="2C6A85"/>
              </a:solidFill>
            </a:ln>
          </c:spPr>
          <c:marker>
            <c:spPr>
              <a:solidFill>
                <a:srgbClr val="2C6A85"/>
              </a:solidFill>
              <a:ln>
                <a:solidFill>
                  <a:srgbClr val="2C6A8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128.3</c:v>
                </c:pt>
                <c:pt idx="1">
                  <c:v>134.5</c:v>
                </c:pt>
                <c:pt idx="2">
                  <c:v>138.7</c:v>
                </c:pt>
                <c:pt idx="3">
                  <c:v>144.4</c:v>
                </c:pt>
                <c:pt idx="4">
                  <c:v>138.4</c:v>
                </c:pt>
                <c:pt idx="5">
                  <c:v>127.9</c:v>
                </c:pt>
                <c:pt idx="6">
                  <c:v>103.3</c:v>
                </c:pt>
                <c:pt idx="7">
                  <c:v>91.6</c:v>
                </c:pt>
                <c:pt idx="8">
                  <c:v>90.4</c:v>
                </c:pt>
                <c:pt idx="9">
                  <c:v>92.6</c:v>
                </c:pt>
                <c:pt idx="10">
                  <c:v>105.5</c:v>
                </c:pt>
                <c:pt idx="11">
                  <c:v>110.4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Kosonsoy</c:v>
                </c:pt>
              </c:strCache>
            </c:strRef>
          </c:tx>
          <c:spPr>
            <a:ln w="31750">
              <a:solidFill>
                <a:srgbClr val="A4521D"/>
              </a:solidFill>
            </a:ln>
          </c:spPr>
          <c:marker>
            <c:spPr>
              <a:solidFill>
                <a:srgbClr val="A4521D"/>
              </a:solidFill>
              <a:ln>
                <a:solidFill>
                  <a:srgbClr val="A4521D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Yan</c:v>
                </c:pt>
                <c:pt idx="1">
                  <c:v>Fev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Iyn</c:v>
                </c:pt>
                <c:pt idx="6">
                  <c:v>Iyl</c:v>
                </c:pt>
                <c:pt idx="7">
                  <c:v>Avg</c:v>
                </c:pt>
                <c:pt idx="8">
                  <c:v>Sen</c:v>
                </c:pt>
                <c:pt idx="9">
                  <c:v>Okt</c:v>
                </c:pt>
                <c:pt idx="10">
                  <c:v>Noy</c:v>
                </c:pt>
                <c:pt idx="11">
                  <c:v>Dek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71.2</c:v>
                </c:pt>
                <c:pt idx="1">
                  <c:v>77.8</c:v>
                </c:pt>
                <c:pt idx="2">
                  <c:v>62.6</c:v>
                </c:pt>
                <c:pt idx="3">
                  <c:v>71.5</c:v>
                </c:pt>
                <c:pt idx="4">
                  <c:v>88.1</c:v>
                </c:pt>
                <c:pt idx="5">
                  <c:v>80.1</c:v>
                </c:pt>
                <c:pt idx="6">
                  <c:v>47.6</c:v>
                </c:pt>
                <c:pt idx="7">
                  <c:v>27.4</c:v>
                </c:pt>
                <c:pt idx="8">
                  <c:v>24.1</c:v>
                </c:pt>
                <c:pt idx="9">
                  <c:v>18.0</c:v>
                </c:pt>
                <c:pt idx="10">
                  <c:v>15.9</c:v>
                </c:pt>
                <c:pt idx="11">
                  <c:v>20.7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60.0"/>
          <c:min val="0.0"/>
        </c:scaling>
        <c:delete val="0"/>
        <c:axPos val="l"/>
        <c:majorGridlines>
          <c:spPr>
            <a:ln>
              <a:solidFill>
                <a:srgbClr val="D9D2C3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2118791784"/>
        <c:crosses val="autoZero"/>
        <c:majorUnit val="40.0"/>
      </c:valAx>
    </c:plotArea>
    <c:legend>
      <c:legendPos val="t"/>
      <c:layout/>
      <c:overlay val="0"/>
      <c:txPr>
        <a:bodyPr/>
        <a:lstStyle/>
        <a:p>
          <a:pPr>
            <a:defRPr sz="1200">
              <a:solidFill>
                <a:srgbClr val="4C5852"/>
              </a:solidFill>
              <a:latin typeface="Inte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Ulush</c:v>
                </c:pt>
              </c:strCache>
            </c:strRef>
          </c:tx>
          <c:spPr>
            <a:solidFill>
              <a:srgbClr val="2C6A85"/>
            </a:solidFill>
          </c:spPr>
          <c:dPt>
            <c:idx val="5"/>
            <c:spPr>
              <a:solidFill>
                <a:srgbClr val="A4521D"/>
              </a:solidFill>
            </c:spPr>
          </c:dPt>
          <c:dPt>
            <c:idx val="6"/>
            <c:spPr>
              <a:solidFill>
                <a:srgbClr val="A4521D"/>
              </a:solidFill>
            </c:spPr>
          </c:dPt>
          <c:dPt>
            <c:idx val="7"/>
            <c:spPr>
              <a:solidFill>
                <a:srgbClr val="A4521D"/>
              </a:solidFill>
            </c:spPr>
          </c:dPt>
          <c:cat>
            <c:strRef>
              <c:f>Sheet1!$A$2:$A$9</c:f>
              <c:strCache>
                <c:ptCount val="8"/>
                <c:pt idx="0">
                  <c:v>Nasos stansiyalari</c:v>
                </c:pt>
                <c:pt idx="1">
                  <c:v>Daryolar</c:v>
                </c:pt>
                <c:pt idx="2">
                  <c:v>Suv va sel omborlari</c:v>
                </c:pt>
                <c:pt idx="3">
                  <c:v>Tik quduqlar</c:v>
                </c:pt>
                <c:pt idx="4">
                  <c:v>Kanallar</c:v>
                </c:pt>
                <c:pt idx="5">
                  <c:v>Soylar</c:v>
                </c:pt>
                <c:pt idx="6">
                  <c:v>Kollektorlar (zovur)</c:v>
                </c:pt>
                <c:pt idx="7">
                  <c:v>Ichki zovurlar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100</c:v>
                </c:pt>
                <c:pt idx="1">
                  <c:v>93</c:v>
                </c:pt>
                <c:pt idx="2">
                  <c:v>81</c:v>
                </c:pt>
                <c:pt idx="3">
                  <c:v>64</c:v>
                </c:pt>
                <c:pt idx="4">
                  <c:v>62</c:v>
                </c:pt>
                <c:pt idx="5">
                  <c:v>32</c:v>
                </c:pt>
                <c:pt idx="6">
                  <c:v>27</c:v>
                </c:pt>
                <c:pt idx="7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200">
                  <a:solidFill>
                    <a:srgbClr val="1D2A24"/>
                  </a:solidFill>
                  <a:latin typeface="Inter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5B2AD"/>
            </a:solidFill>
          </a:ln>
        </c:spPr>
        <c:txPr>
          <a:bodyPr/>
          <a:lstStyle/>
          <a:p>
            <a:pPr>
              <a:defRPr sz="1200">
                <a:solidFill>
                  <a:srgbClr val="4C5852"/>
                </a:solidFill>
                <a:latin typeface="Inte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4C5852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Ilmiy ishim mavzusi: Gʻarbiy Fargʻonaning tuproq-meliorativ sharoitlari va oʻzgarishlarini GAT asosida bashoratlash. Quyida dissertatsiya rejasining mufassal loyihasini taqdim etaman.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Mavzuning dolzarbligini uch yoʻnalishda asoslayman: shoʻrlanish xavfi, suv tanqisligi va zamonaviy raqamli monitoringga ehtiyoj. Bu yerda tegishli davlat dasturi yoki farmonni aniq keltirish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muammoni bitta jumlada aytaman: hudud uchun baholash va bashoratni birlashtirgan GAT modeli yetishmaydi.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Maqsad bitta, unga erishish uchun olti vazifa qoʻyilgan. Har bir vazifa keyinchalik dissertatsiyaning muayyan paragrafiga mos keladi.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Obyekt — tuproqlarning oʻzi, predmet — ularning oʻzgarishi va bashorat usullari. Hudud chegarasini aniq tumanlar nomi bilan koʻrsatish kerak.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Ilmiy yangilikning toʻrt jihati: maʼlumotlar bazasi, kalibrlangan indekslar, qonuniyatlar va gibrid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holatlar dastlabki ilmiy faraz sifatida shakllantirilgan; aniqlik koʻrsatkichi tadqiqot natijalariga koʻra toʻldiriladi.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Tadqiqot besh turdagi maʼlumotga tayanadi: kosmik suratlar, relyef modeli, meliorativ kadastr, dala namunalari va meteorologik maʼlumotlar.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Jarayon besh bosqichdan iborat: maʼlumot yigʻishdan boshlab bashorat xaritalarigacha.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Dissertatsiya kirish, toʻrt bob, xulosa, adabiyotlar va ilovalardan iborat. Keyingi ikki slaydda boblar paragraflari keltirilgan.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Birinchi bob nazariy va hududiy asos, ikkinchi bob — metodik 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Uchinchi bob — tahliliy, toʻrtinchi bob — bashorat va tavsiyalar. Asosiy ilmiy natijalar shu ikki bobda.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Natijalar ham ilmiy, ham amaliy tomondan foydali: maʼlumotlar bazasi va xaritalar suv xoʻjaligi tashkilotlari va fermerlar uchun ishlatilishi mumkin.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Ish uch yilga moʻljallangan; har bir yil yakunida aniq bob va nashr natijasi koʻzda tutilgan. Yillarni doktorantura muddatiga moslab tuzating.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Nashrlar soni ixtisoslik boʻyicha OAK talablariga koʻra belgilanadi; raqamlarni ilmiy rahbar bilan kelishib toʻldiring.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Savollaringizga javob berishga tayyorman.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127720"/>
            <a:ext cx="10566400" cy="447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D2A24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1879550"/>
            <a:ext cx="10566400" cy="416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86334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DISSERTATSIYA REJASINING MUFASSAL LOYIHASI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1280120"/>
            <a:ext cx="8633460" cy="221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40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tuproq-meliorativ sharoitlari va oʻzgarishlarini GAT asosida bashoratlash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12800" y="3728641"/>
            <a:ext cx="8633460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Ustuvor ixtisosliklar boʻyicha ilmiy ish mavzusi taqdimoti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812800" y="5026124"/>
            <a:ext cx="10566400" cy="0"/>
          </a:xfrm>
          <a:prstGeom prst="line">
            <a:avLst/>
          </a:prstGeom>
          <a:noFill/>
          <a:ln w="6350">
            <a:solidFill>
              <a:srgbClr val="3E504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128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Izlanuvchi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128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5052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Ilmiy rahbar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052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[F.I.Sh., ilmiy daraja]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1976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Ixtisoslik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197600" y="5547420"/>
            <a:ext cx="256387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[shifr — nomi]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90000" y="5283299"/>
            <a:ext cx="25638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Tashkilot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890000" y="5547420"/>
            <a:ext cx="256387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[OTM / ilmiy muassasa],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Mavzuning dolzarbligi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930350"/>
            <a:ext cx="91567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Sugʻoriladigan yerlarning meliorativ holati tez oʻzgaradi. Uni oʻz vaqtida baholash va oldindan bashorat qilish — yer va suv resurslaridan barqaror foydalanishning asosiy sharti.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15975" y="3214836"/>
            <a:ext cx="3380284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73150" y="3472011"/>
            <a:ext cx="406400" cy="38100"/>
          </a:xfrm>
          <a:prstGeom prst="rect">
            <a:avLst/>
          </a:prstGeom>
          <a:solidFill>
            <a:srgbClr val="A4521D"/>
          </a:solidFill>
          <a:ln/>
        </p:spPr>
      </p:sp>
      <p:sp>
        <p:nvSpPr>
          <p:cNvPr id="7" name="Text 5"/>
          <p:cNvSpPr/>
          <p:nvPr/>
        </p:nvSpPr>
        <p:spPr>
          <a:xfrm>
            <a:off x="1073150" y="3611711"/>
            <a:ext cx="2951912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 xavfi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73150" y="3957141"/>
            <a:ext cx="2951912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 ikkilamchi shoʻrlanishni kuchaytiradi.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05809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2984" y="3472011"/>
            <a:ext cx="406400" cy="38100"/>
          </a:xfrm>
          <a:prstGeom prst="rect">
            <a:avLst/>
          </a:prstGeom>
          <a:solidFill>
            <a:srgbClr val="2C6A85"/>
          </a:solidFill>
          <a:ln/>
        </p:spPr>
      </p:sp>
      <p:sp>
        <p:nvSpPr>
          <p:cNvPr id="11" name="Text 9"/>
          <p:cNvSpPr/>
          <p:nvPr/>
        </p:nvSpPr>
        <p:spPr>
          <a:xfrm>
            <a:off x="4662984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Suv tanqisligi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62984" y="3957141"/>
            <a:ext cx="2951963" cy="7187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Cheklangan suv resurslari sharoitida har bir gektardan samarali foydalanish talab etiladi.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95692" y="3214836"/>
            <a:ext cx="3380333" cy="1924000"/>
          </a:xfrm>
          <a:prstGeom prst="roundRect">
            <a:avLst>
              <a:gd name="adj" fmla="val 5116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2867" y="3472011"/>
            <a:ext cx="406400" cy="38100"/>
          </a:xfrm>
          <a:prstGeom prst="rect">
            <a:avLst/>
          </a:prstGeom>
          <a:solidFill>
            <a:srgbClr val="1D2A24"/>
          </a:solidFill>
          <a:ln/>
        </p:spPr>
      </p:sp>
      <p:sp>
        <p:nvSpPr>
          <p:cNvPr id="15" name="Text 13"/>
          <p:cNvSpPr/>
          <p:nvPr/>
        </p:nvSpPr>
        <p:spPr>
          <a:xfrm>
            <a:off x="8252867" y="3611711"/>
            <a:ext cx="2951963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Raqamli 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52867" y="3957141"/>
            <a:ext cx="2951963" cy="949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Anʼanaviy dala kuzatuvlari keng hududni tez qamrab ololmaydi — GAT va masofadan zondlash bu boʻshliqni toʻldiradi.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489436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Normativ asos: [tegishli farmon / qaror raqami va sanasi]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139289" y="6238280"/>
            <a:ext cx="2399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A452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ILMIY MUAMMO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2386310"/>
            <a:ext cx="9810750" cy="18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3000" b="0" i="0" dirty="0">
                <a:solidFill>
                  <a:srgbClr val="F8F1E7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 uchun tuproq-meliorativ holatning fazoviy-vaqtli oʻzgarishini yagona tizimda baholovchi va kelajakka bashorat qiluvchi GAT modeli hali yetarli darajada ishlab chiqilmagan.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557530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Ushbu tadqiqot aynan shu boʻshliqni toʻldirishga qaratilgan.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138098" y="6238280"/>
            <a:ext cx="24110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6DCC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Maqsad va vazifalar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79550"/>
            <a:ext cx="3810000" cy="3316982"/>
          </a:xfrm>
          <a:prstGeom prst="roundRect">
            <a:avLst>
              <a:gd name="adj" fmla="val 3063"/>
            </a:avLst>
          </a:prstGeom>
          <a:solidFill>
            <a:srgbClr val="1D2A24"/>
          </a:solidFill>
          <a:ln/>
        </p:spPr>
      </p:sp>
      <p:sp>
        <p:nvSpPr>
          <p:cNvPr id="5" name="Text 3"/>
          <p:cNvSpPr/>
          <p:nvPr/>
        </p:nvSpPr>
        <p:spPr>
          <a:xfrm>
            <a:off x="1117600" y="2184350"/>
            <a:ext cx="329641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MAQSAD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17600" y="2550071"/>
            <a:ext cx="3296412" cy="1892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tuproqlarining meliorativ holatini GAT va masofadan zondlash maʼlumotlari asosida baholash, oʻzgarish qonuniyatlarini aniqlash va [2030–2035]-yillarga bashorat modelini ishlab chiqish.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87955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VAZIFALAR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0" y="2207171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35600" y="2207171"/>
            <a:ext cx="67564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Hududning tabiiy-meliorativ sharoitlari va tuproq qoplamini tahlil qilish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0" y="257036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35600" y="257036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kosmik suratlar va meliorativ kadastr maʼlumotlarining GAT bazasini yaratish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0" y="3164681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35600" y="3164681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dinamikasini aniqlash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759002"/>
            <a:ext cx="33020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35600" y="3759002"/>
            <a:ext cx="6121908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omillarni statistik baholash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29200" y="412219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35600" y="412219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(CA–Markov, mashinali oʻqitish) qurish va aniqligini tekshirish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29200" y="4716512"/>
            <a:ext cx="330200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35600" y="4716512"/>
            <a:ext cx="6121908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xaritalar va tavsiyalar ishlab chiqish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33782" y="6238280"/>
            <a:ext cx="24541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Obyekt, predmet va hudud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933525"/>
            <a:ext cx="3380284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8550" y="2216100"/>
            <a:ext cx="2899588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98550" y="2840930"/>
            <a:ext cx="2899588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obyekti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8550" y="3211761"/>
            <a:ext cx="2899588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Fargʻonaning sugʻoriladigan tuproqlari va ularning meliorativ holati.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09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88384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88384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predmeti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88384" y="3211761"/>
            <a:ext cx="2899639" cy="12698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minerallashuvining fazoviy-vaqtli oʻzgarishi hamda ularni GAT asosida modellashtirish va bashoratlash usullari.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692" y="1933525"/>
            <a:ext cx="3380333" cy="2805261"/>
          </a:xfrm>
          <a:prstGeom prst="roundRect">
            <a:avLst>
              <a:gd name="adj" fmla="val 3509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78267" y="2216100"/>
            <a:ext cx="2899639" cy="523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78267" y="2840930"/>
            <a:ext cx="2899639" cy="269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hududi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78267" y="3211761"/>
            <a:ext cx="2899639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Fargʻona vodiysining gʻarbiy qismi: [oʻrganiladigan viloyat va tumanlar roʻyxati].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41819" y="6238280"/>
            <a:ext cx="23738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Ilmiy yangilik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5" name="Text 3"/>
          <p:cNvSpPr/>
          <p:nvPr/>
        </p:nvSpPr>
        <p:spPr>
          <a:xfrm>
            <a:off x="10668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6002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uchun ilk bor koʻp yillik tuproq-meliorativ holat GAT maʼlumotlar bazasi yaratiladi.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97600" y="1930350"/>
            <a:ext cx="5181600" cy="1254671"/>
          </a:xfrm>
          <a:prstGeom prst="roundRect">
            <a:avLst>
              <a:gd name="adj" fmla="val 8098"/>
            </a:avLst>
          </a:prstGeom>
          <a:solidFill>
            <a:srgbClr val="F8F5EE"/>
          </a:solidFill>
          <a:ln/>
        </p:spPr>
      </p:sp>
      <p:sp>
        <p:nvSpPr>
          <p:cNvPr id="8" name="Text 6"/>
          <p:cNvSpPr/>
          <p:nvPr/>
        </p:nvSpPr>
        <p:spPr>
          <a:xfrm>
            <a:off x="6451600" y="2184350"/>
            <a:ext cx="406400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85000" y="2184350"/>
            <a:ext cx="4264406" cy="7720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Spektral shoʻrlanish indekslari (SI, NDSI) dala tahlillari bilan hudud sharoitiga moslab kalibrlanadi.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1" name="Text 9"/>
          <p:cNvSpPr/>
          <p:nvPr/>
        </p:nvSpPr>
        <p:spPr>
          <a:xfrm>
            <a:off x="10668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6002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 oʻzgarishining fazoviy-vaqtli qonuniyatlari va asosiy omillari aniqlanadi.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7600" y="3388221"/>
            <a:ext cx="5181600" cy="1005780"/>
          </a:xfrm>
          <a:prstGeom prst="roundRect">
            <a:avLst>
              <a:gd name="adj" fmla="val 10102"/>
            </a:avLst>
          </a:prstGeom>
          <a:solidFill>
            <a:srgbClr val="F8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51600" y="3642221"/>
            <a:ext cx="406400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985000" y="3642221"/>
            <a:ext cx="426440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CA–Markov va Random Forest asosidagi gibrid bashorat modeli taklif etiladi.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· TADQIQOT ASOSLARI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Himoyaga olib chiqiladigan holatlar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8827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20891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625600" y="20891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indekslari va dala tahlillari asosida kalibrlangan modellar hudud tuproqlari shoʻrlanishini [__]% aniqlikda baholash imkonini beradi.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2800" y="28288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303525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25600" y="303525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holat oʻzgarishi relyef, sizot suvlari chuqurligi va sugʻorish tartibi bilan bogʻliq boʻlib, hudud boʻyicha differensial namoyon boʻladi.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2800" y="377502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12800" y="4721175"/>
            <a:ext cx="10566400" cy="0"/>
          </a:xfrm>
          <a:prstGeom prst="line">
            <a:avLst/>
          </a:prstGeom>
          <a:noFill/>
          <a:ln w="6350">
            <a:solidFill>
              <a:srgbClr val="CFC7B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3981400"/>
            <a:ext cx="5588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25600" y="3981400"/>
            <a:ext cx="1004620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Gibrid model [2030–2035]-yillarga meliorativ holat bashoratini beradi va meliorativ tadbirlarni rejalashtirishga asos boʻladi.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48963" y="6238280"/>
            <a:ext cx="230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Maʼlumotlar manbalari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41450"/>
          <a:ext cx="10553700" cy="3509962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Manba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Mazmuni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Qoʻllanilishi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Landsat 5/7/8/9, Sentinel-2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Koʻp spektrli kosmik suratlar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 va oʻsimlik indekslari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SRTM / ALOS DEM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Relyefning raqamli modeli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Nishablik, oqim, TWI indeksi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Meliorativ kadastr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Sizot suvlari sathi va minerallashuvi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Interpolyatsiya, validatsiya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Dala namunalari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EC, tuz tarkibi, granulometriya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Kalibrlash va aniqlikni baholash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Meteorologik maʼlumotlar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Harorat, yogʻin, bugʻlanish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Omillar tahlili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Viloyat statistik hisobotlari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Shoʻrlanish, hosildorlik, suv olish, shoʻr yuvish, suv omborlari, zovur tarmogʻi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Dinamika va omillar tahlili, suv balansi, kalibrlash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745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Ekin joylashtirish rejalari (2022–2026)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Tuman va kontur kesimida ekin maydonlari, tuproq bonitet ballari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Kontur asosida GAT qatlami, ekin–tuproq bogʻliqligi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01600" marB="1016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6305412"/>
            <a:ext cx="1088339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Dasturiy taʼminot:</a:t>
            </a:r>
            <a:r>
              <a:rPr lang="en-US" sz="13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ArcGIS Pro, QGIS, Google Earth Engine, SNAP, Python (scikit-learn), TerrSet (CA–Markov)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· METODOLOGIYA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jarayoni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9060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Yigʻish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9060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Kosmik suratlar, DEM, meliorativ kadastr, dala namunalari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69746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00226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1" name="Shape 9"/>
          <p:cNvSpPr/>
          <p:nvPr/>
        </p:nvSpPr>
        <p:spPr>
          <a:xfrm>
            <a:off x="300226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2" name="Text 10"/>
          <p:cNvSpPr/>
          <p:nvPr/>
        </p:nvSpPr>
        <p:spPr>
          <a:xfrm>
            <a:off x="318006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8006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Ishlov berish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80060" y="2826941"/>
            <a:ext cx="150371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Radiometrik va atmosfera tuzatish, geometrik moslashtirish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8697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19177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17" name="Shape 15"/>
          <p:cNvSpPr/>
          <p:nvPr/>
        </p:nvSpPr>
        <p:spPr>
          <a:xfrm>
            <a:off x="519177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18" name="Text 16"/>
          <p:cNvSpPr/>
          <p:nvPr/>
        </p:nvSpPr>
        <p:spPr>
          <a:xfrm>
            <a:off x="536957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6957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tahlili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369570" y="2826941"/>
            <a:ext cx="1503660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SI, NDSI, NDVI indekslari; kriging va IDW interpolyatsiya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07643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81230" y="1930350"/>
            <a:ext cx="1808510" cy="2140992"/>
          </a:xfrm>
          <a:prstGeom prst="roundRect">
            <a:avLst>
              <a:gd name="adj" fmla="val 5618"/>
            </a:avLst>
          </a:prstGeom>
          <a:solidFill>
            <a:srgbClr val="F8F5EE"/>
          </a:solidFill>
          <a:ln/>
        </p:spPr>
      </p:sp>
      <p:sp>
        <p:nvSpPr>
          <p:cNvPr id="23" name="Shape 21"/>
          <p:cNvSpPr/>
          <p:nvPr/>
        </p:nvSpPr>
        <p:spPr>
          <a:xfrm>
            <a:off x="7381230" y="1930350"/>
            <a:ext cx="1808510" cy="2140992"/>
          </a:xfrm>
          <a:custGeom>
            <a:avLst/>
            <a:gdLst/>
            <a:ahLst/>
            <a:cxnLst/>
            <a:rect l="l" t="t" r="r" b="b"/>
            <a:pathLst>
              <a:path w="180851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910" y="0"/>
                </a:lnTo>
                <a:arcTo hR="101600" wR="101600" stAng="16200000" swAng="5400000"/>
                <a:lnTo>
                  <a:pt x="180851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2C6A85"/>
          </a:solidFill>
          <a:ln/>
        </p:spPr>
      </p:sp>
      <p:sp>
        <p:nvSpPr>
          <p:cNvPr id="24" name="Text 22"/>
          <p:cNvSpPr/>
          <p:nvPr/>
        </p:nvSpPr>
        <p:spPr>
          <a:xfrm>
            <a:off x="7559030" y="2146250"/>
            <a:ext cx="150371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559030" y="2496741"/>
            <a:ext cx="150371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1D2A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Modellash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59030" y="2826941"/>
            <a:ext cx="1503710" cy="10920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C58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Regressiya, Random Forest, CA–Markov; Kappa va RMSE bilan tekshirish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65940" y="2840831"/>
            <a:ext cx="279400" cy="3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570740" y="1930350"/>
            <a:ext cx="1808460" cy="2140992"/>
          </a:xfrm>
          <a:prstGeom prst="roundRect">
            <a:avLst>
              <a:gd name="adj" fmla="val 5618"/>
            </a:avLst>
          </a:prstGeom>
          <a:solidFill>
            <a:srgbClr val="1D2A24"/>
          </a:solidFill>
          <a:ln/>
        </p:spPr>
      </p:sp>
      <p:sp>
        <p:nvSpPr>
          <p:cNvPr id="29" name="Shape 27"/>
          <p:cNvSpPr/>
          <p:nvPr/>
        </p:nvSpPr>
        <p:spPr>
          <a:xfrm>
            <a:off x="9570740" y="1930350"/>
            <a:ext cx="1808460" cy="2140992"/>
          </a:xfrm>
          <a:custGeom>
            <a:avLst/>
            <a:gdLst/>
            <a:ahLst/>
            <a:cxnLst/>
            <a:rect l="l" t="t" r="r" b="b"/>
            <a:pathLst>
              <a:path w="1808460" h="2140992">
                <a:moveTo>
                  <a:pt x="0" y="101600"/>
                </a:moveTo>
                <a:lnTo>
                  <a:pt x="0" y="101600"/>
                </a:lnTo>
                <a:arcTo hR="101600" wR="101600" stAng="10800000" swAng="5400000"/>
                <a:lnTo>
                  <a:pt x="1706860" y="0"/>
                </a:lnTo>
                <a:arcTo hR="101600" wR="101600" stAng="16200000" swAng="5400000"/>
                <a:lnTo>
                  <a:pt x="1808460" y="101600"/>
                </a:lnTo>
                <a:arcTo hR="63500" wR="101600" stAng="0" swAng="-5400000"/>
                <a:lnTo>
                  <a:pt x="101600" y="38100"/>
                </a:lnTo>
                <a:arcTo hR="63500" wR="101600" stAng="16200000" swAng="-5400000"/>
                <a:close/>
              </a:path>
            </a:pathLst>
          </a:custGeom>
          <a:solidFill>
            <a:srgbClr val="E3925A"/>
          </a:solidFill>
          <a:ln/>
        </p:spPr>
      </p:sp>
      <p:sp>
        <p:nvSpPr>
          <p:cNvPr id="30" name="Text 28"/>
          <p:cNvSpPr/>
          <p:nvPr/>
        </p:nvSpPr>
        <p:spPr>
          <a:xfrm>
            <a:off x="9748540" y="2146250"/>
            <a:ext cx="150366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48540" y="2496741"/>
            <a:ext cx="150366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748540" y="2826941"/>
            <a:ext cx="150366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C9C3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 ssenariylari, xaritalar, tavsiyalar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2800" y="4426942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 — hudud boʻyicha meliorativ holatning hozirgi va kelajakdagi xaritalari seriyasi.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137751" y="6238280"/>
            <a:ext cx="24144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Dissertatsiya tarkibi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477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KIRISH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477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Dolzarblik, maqsad va vazifalar, ilmiy yangilik, amaliy ahamiyat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973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6291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629150" y="240402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Tabiiy-meliorativ sharoitlar va oʻrganilganlik darajasi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78775" y="1882725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10550" y="2114500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10550" y="2404021"/>
            <a:ext cx="3021711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Tadqiqot maʼlumotlari va usullari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59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477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477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sharoitlarning fazoviy-vaqtli oʻzgarishi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397375" y="3299966"/>
            <a:ext cx="3397250" cy="1233091"/>
          </a:xfrm>
          <a:prstGeom prst="roundRect">
            <a:avLst>
              <a:gd name="adj" fmla="val 7982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29150" y="3531741"/>
            <a:ext cx="302171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29150" y="3821261"/>
            <a:ext cx="3021711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oʻzgarishlarni GAT asosida bashoratlash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975600" y="3296791"/>
            <a:ext cx="3403600" cy="1239441"/>
          </a:xfrm>
          <a:prstGeom prst="roundRect">
            <a:avLst>
              <a:gd name="adj" fmla="val 8197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204200" y="3525391"/>
            <a:ext cx="30347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04200" y="3814911"/>
            <a:ext cx="30347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Xulosalar, tavsiyalar, adabiyotlar roʻyxati va ilovalar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0245" y="6238280"/>
            <a:ext cx="2089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 va II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Gʻarbiy Fargʻonaning tabiiy-meliorativ sharoitlari va oʻrganilganlik darajasi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Tuproq-meliorativ tadqiqotlar tarixi va oʻrganilganlik holati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7019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70190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Geologik-geomorfologik va gidrogeologik sharoitlar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40473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40473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Iqlim va gidrografiya omillari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39276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39276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qoplami va sugʻorish-drenaj tizimi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51575" y="1882725"/>
            <a:ext cx="5124450" cy="3023741"/>
          </a:xfrm>
          <a:prstGeom prst="roundRect">
            <a:avLst>
              <a:gd name="adj" fmla="val 3255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341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34150" y="2492921"/>
            <a:ext cx="4696079" cy="2844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Tadqiqot maʼlumotlari va usullari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34150" y="2866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6750" y="286628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Dala tadqiqotlari va laboratoriya tahlil usullari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34150" y="3211711"/>
            <a:ext cx="406400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6750" y="3211711"/>
            <a:ext cx="419900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Masofadan zondlash maʼlumotlari va ularga dastlabki ishlov berish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34150" y="37882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6750" y="37882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 maʼlumotlar bazasini shakllantirish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34150" y="41337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6750" y="41337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Fazoviy statistika va bashoratlash modellari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204426" y="6238280"/>
            <a:ext cx="17477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· DISSERTATSIYA TUZILISHI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III va IV boblar mazmuni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882725"/>
            <a:ext cx="5124450" cy="2792611"/>
          </a:xfrm>
          <a:prstGeom prst="roundRect">
            <a:avLst>
              <a:gd name="adj" fmla="val 3524"/>
            </a:avLst>
          </a:prstGeom>
          <a:solidFill>
            <a:srgbClr val="FBF9F4"/>
          </a:solidFill>
          <a:ln w="6350">
            <a:solidFill>
              <a:srgbClr val="D9D2C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98550" y="2165300"/>
            <a:ext cx="469607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III BOB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98550" y="2492921"/>
            <a:ext cx="4696079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sharoitlarning fazoviy-vaqtli oʻzgarishi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8550" y="312534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581150" y="3125341"/>
            <a:ext cx="43561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Tuproq shoʻrlanishi dinamikasi ([2000–2025] yillar)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8550" y="347077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581150" y="347077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Sizot suvlari sathi va minerallashuvining oʻzgarishi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8550" y="381620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81150" y="381620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holatga taʼsir etuvchi omillar tahlili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8550" y="416163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3.4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81150" y="4161631"/>
            <a:ext cx="4199001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Hududni meliorativ rayonlashtirish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48400" y="1879550"/>
            <a:ext cx="5130800" cy="2798961"/>
          </a:xfrm>
          <a:prstGeom prst="roundRect">
            <a:avLst>
              <a:gd name="adj" fmla="val 3630"/>
            </a:avLst>
          </a:prstGeom>
          <a:solidFill>
            <a:srgbClr val="1D2A24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27800" y="2158950"/>
            <a:ext cx="470916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IV BOB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7800" y="2486571"/>
            <a:ext cx="4709160" cy="543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Tuproq-meliorativ oʻzgarishlarni GAT asosida bashoratlash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7800" y="311899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10400" y="311899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Bashorat modelini ishlab chiqish va kalibrlash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7800" y="346442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010400" y="346442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aniqligini baholash (Kappa, RMSE, R²)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7800" y="380985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010400" y="380985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[2030–2035]-yillar uchun bashorat ssenariylari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7800" y="4155281"/>
            <a:ext cx="406400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8CC3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4.4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010400" y="4155281"/>
            <a:ext cx="421208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holatni yaxshilash boʻyicha tavsiyalar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1173470" y="6238280"/>
            <a:ext cx="20573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Kutilayotgan natijalar va amaliy ahamiyat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KUTILAYOTGAN NATIJALAR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28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8700" y="2232571"/>
            <a:ext cx="52197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Koʻp yillik tuproq-meliorativ holat GAT maʼlumotlar bazasi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1228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28700" y="261228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Shoʻrlanish, sizot suvlari sathi va minerallashuvi xaritalari seriyasi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2800" y="323200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028700" y="3232001"/>
            <a:ext cx="5435600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Kalibrlangan bashorat modeli va [2030–2035] ssenariylari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6117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2C6A8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28700" y="36117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Meliorativ rayonlashtirish xaritasi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248400" y="1879550"/>
            <a:ext cx="52847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0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AMALIY AHAMIYATI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48400" y="223257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64300" y="223257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Drenaj, yuvish va sugʻorish tartibini rejalashtirish uchun asos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48400" y="285229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64300" y="285229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Gidrogeologik-meliorativ ekspeditsiyalar amaliyotiga joriy etish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48400" y="347201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64300" y="3472011"/>
            <a:ext cx="5062347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Fermer xoʻjaliklari uchun ekin joylashtirish tavsiyalari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48400" y="3851721"/>
            <a:ext cx="88900" cy="88900"/>
          </a:xfrm>
          <a:prstGeom prst="roundRect">
            <a:avLst>
              <a:gd name="adj" fmla="val 21429"/>
            </a:avLst>
          </a:prstGeom>
          <a:solidFill>
            <a:srgbClr val="A4521D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464300" y="3851721"/>
            <a:ext cx="506234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OTMlarda tuproqshunoslik va GAT fanlarini oʻqitishda foydalanish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72279" y="6238280"/>
            <a:ext cx="20692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Ish rejasi (kalendar)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892250"/>
          <a:ext cx="10553700" cy="3479701"/>
        </p:xfrm>
        <a:graphic>
          <a:graphicData uri="http://schemas.openxmlformats.org/drawingml/2006/table">
            <a:tbl>
              <a:tblPr/>
              <a:tblGrid>
                <a:gridCol w="3517900"/>
                <a:gridCol w="3517900"/>
                <a:gridCol w="3517900"/>
              </a:tblGrid>
              <a:tr h="52323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Bosqich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Asosiy ishlar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5F6B6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Natija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DFD9"/>
                    </a:solidFill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[2026–2027]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Adabiyotlar tahlili, maʼlumotlarni yigʻish, birinchi dala mavsumi, GAT bazasi tuzilmasi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 bob qoʻlyozmasi, tezislar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5B2A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[2027–2028]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Laboratoriya tahlillari, kosmik suratlarni qayta ishlash, dinamika va omillar tahlili, ikkinchi dala mavsumi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II–III boblar, OAK jurnallarida maqolalar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5490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3-yil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[2028–2029]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Bashorat modelini qurish va tekshirish, tavsiyalar, aprobatsiya, dissertatsiyani rasmiylashtirish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230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IV bob, joriy etish dalolatnomalari, himoya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52400" marR="152400" marT="139700" marB="139700" anchor="t">
                    <a:lnL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3C0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167963" y="6238280"/>
            <a:ext cx="21123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4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4521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· NATIJALAR VA REJA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Aprobatsiya va nashrlar rejasi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668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668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OAK roʻyxatidagi jurnallarda maqola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7528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7528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Xorijiy (Scopus / Web of Science) jurnallarda maqola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8490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3890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2C6A85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38900" y="2895550"/>
            <a:ext cx="2060257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Xalqaro va respublika konferensiyalarida tezis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870950" y="1930350"/>
            <a:ext cx="2508250" cy="1939230"/>
          </a:xfrm>
          <a:prstGeom prst="roundRect">
            <a:avLst>
              <a:gd name="adj" fmla="val 5239"/>
            </a:avLst>
          </a:prstGeom>
          <a:solidFill>
            <a:srgbClr val="F8F5EE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24950" y="2184350"/>
            <a:ext cx="2060257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800"/>
              </a:lnSpc>
              <a:buNone/>
            </a:pPr>
            <a:r>
              <a:rPr lang="en-US" sz="4800" dirty="0">
                <a:solidFill>
                  <a:srgbClr val="A4521D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[__]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24950" y="2895550"/>
            <a:ext cx="2060257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EHM dasturi yoki maʼlumotlar bazasi guvohnomasi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12800" y="4225181"/>
            <a:ext cx="91567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Natijalarni joriy etish: </a:t>
            </a:r>
            <a:r>
              <a:rPr lang="en-US" sz="1500" b="1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[tashkilot nomi]</a:t>
            </a:r>
            <a:r>
              <a:rPr lang="en-US" sz="1500" dirty="0">
                <a:solidFill>
                  <a:srgbClr val="2230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tomonidan dalolatnoma.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176000" y="6238280"/>
            <a:ext cx="203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2A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lyef kontur chiziqlari bezagi">    </p:cNvPr>
          <p:cNvPicPr>
            <a:picLocks noChangeAspect="1"/>
          </p:cNvPicPr>
          <p:nvPr/>
        </p:nvPicPr>
        <p:blipFill>
          <a:blip r:embed="rId1"/>
          <a:srcRect l="-6" r="-6" t="0" b="0"/>
          <a:stretch/>
        </p:blipFill>
        <p:spPr>
          <a:xfrm>
            <a:off x="7366000" y="0"/>
            <a:ext cx="482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200" kern="0" dirty="0">
                <a:solidFill>
                  <a:srgbClr val="E392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GʻARBIY FARGʻONA · TUPROQ · GAT</a:t>
            </a:r>
            <a:endParaRPr lang="en-US" sz="12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496889"/>
            <a:ext cx="7848600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880"/>
              </a:lnSpc>
              <a:buNone/>
            </a:pPr>
            <a:r>
              <a:rPr lang="en-US" sz="5600" b="0" i="0" dirty="0">
                <a:solidFill>
                  <a:srgbClr val="F6F2E9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Eʼtiboringiz uchun rahmat</a:t>
            </a:r>
            <a:endParaRPr lang="en-US" sz="5600" dirty="0"/>
          </a:p>
        </p:txBody>
      </p:sp>
      <p:sp>
        <p:nvSpPr>
          <p:cNvPr id="5" name="Text 2"/>
          <p:cNvSpPr/>
          <p:nvPr/>
        </p:nvSpPr>
        <p:spPr>
          <a:xfrm>
            <a:off x="812800" y="546105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1ED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Nabiyeva Xadiyaxon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12800" y="5796310"/>
            <a:ext cx="10883392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FA89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[e-pochta · telefon]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Sugʻoriladigan yerlar shoʻrlanishi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Jami shoʻrlangan sugʻoriladigan yerlar, ming ga (Andijon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50000"/>
          <a:ext cx="6750000" cy="38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50000" y="183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80000" y="196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−31%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0000" y="242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shoʻrlangan yer: 7,60 ming ga (2015) → 5,26 ming ga (2025); ulushi 2,9% → 1,9%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50000" y="316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80000" y="329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2C6A85"/>
                </a:solidFill>
                <a:latin typeface="Source Serif 4"/>
              </a:rPr>
              <a:t>98,1%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80000" y="375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Shoʻrlanmagan yerlar ulushi 2025 yilda (2015 yilda — 97,0%)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50000" y="4490000"/>
            <a:ext cx="3846192" cy="118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000" y="4620000"/>
            <a:ext cx="338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A4521D"/>
                </a:solidFill>
                <a:latin typeface="Source Serif 4"/>
              </a:rPr>
              <a:t>8,08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000" y="5080000"/>
            <a:ext cx="3386192" cy="5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Eng yuqori koʻrsatkich — 2020 yil (3,06%); undan keyin barqaror kamayish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sugʻoriladigan yerlarning shoʻrlanish darajasi toʻgʻrisidagi maʼlumot, 2015–2025 yillar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Ekinlar hosildorligi dinamikasi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35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 (amalda), s/ga,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5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96192" y="1830000"/>
            <a:ext cx="4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Gʻalla hosildorligi (sugʻoriladigan), s/ga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336192" y="2130000"/>
          <a:ext cx="43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Tuman kesimida: Ulugʻnor tumanida paxta hosildorligi 2020–2025 yillarda har yili viloyat oʻrtachasidan past (2024 yilda 25,7 s/ga; viloyat — 35,1). Farqning tuproq-meliorativ omillar bilan bogʻliqligi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boʻyicha paxta (2015–2025) va gʻalla (2017–2022) hosili toʻgʻrisidagi maʼlumotlar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Tumanlar kesimidagi maʼlumotlar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49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hosildorligi, 2025 yil, s/ga (tumanlar)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4900000" cy="38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200000" y="1830000"/>
            <a:ext cx="5496192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 rejasi, ga (ekin maydoniga ulushi)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0000" y="2150000"/>
            <a:ext cx="5496192" cy="37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000" y="2350000"/>
            <a:ext cx="18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F6B64"/>
                </a:solidFill>
                <a:latin typeface="Inter"/>
              </a:rPr>
              <a:t>Tuman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00000" y="2350000"/>
            <a:ext cx="75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Jami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00000" y="2350000"/>
            <a:ext cx="1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Gʻoʻza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50000" y="2350000"/>
            <a:ext cx="1146192" cy="25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1">
                <a:solidFill>
                  <a:srgbClr val="5F6B64"/>
                </a:solidFill>
                <a:latin typeface="Inter"/>
              </a:rPr>
              <a:t>Bugʻdoy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000" y="280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Jalaquduq (2026)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0000" y="280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17 485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0000" y="280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4 073 · 23%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50000" y="280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6 166 · 35%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339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Shahrixon (2026)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0000" y="339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16 065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00000" y="339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5 650 · 35%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50000" y="339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6 402 · 40%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398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Qoʻrgʻontepa (2026)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00000" y="398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21 542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00000" y="398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6 618 · 31%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50000" y="398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7 324 · 34%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000" y="457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Paxtaobod (2026)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00000" y="457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15 511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0000" y="457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4 450 · 29%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50000" y="457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6 492 · 42%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5160000"/>
            <a:ext cx="1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D2A24"/>
                </a:solidFill>
                <a:latin typeface="Inter"/>
              </a:rPr>
              <a:t>Oltinkoʻl (2025)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00000" y="5160000"/>
            <a:ext cx="75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11 147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0000" y="5160000"/>
            <a:ext cx="1200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3 740 · 34%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50000" y="5160000"/>
            <a:ext cx="1146192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300" b="0">
                <a:solidFill>
                  <a:srgbClr val="1D2A24"/>
                </a:solidFill>
                <a:latin typeface="Inter"/>
              </a:rPr>
              <a:t>4 144 · 37%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2025 yil paxta hosili hisoboti; tumanlar ekin joylashtirish rejalari (Oltinkoʻl — 2025 yil hosili)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Paxta maydonining oʻzgarishi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0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Paxta ekin maydoni, ming ga (viloyat), 2015–2025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000000" cy="2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196192" y="1830000"/>
            <a:ext cx="45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Gʻoʻza maydoni, ga: 2024 va 2026 reja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7136192" y="2130000"/>
          <a:ext cx="4500000" cy="2950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12800" y="5260000"/>
            <a:ext cx="10883392" cy="80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800" y="5260000"/>
            <a:ext cx="10423392" cy="8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Viloyatda paxta maydoni 10 yilda 93,4 dan 60,0 ming gagacha (−36%) qisqardi; tuman rejalarida 2026 yil uchun ham pasayish davom etadi: Jalaquduq −24%, Paxtaobod −16%, Shahrixon va Qoʻrgʻontepa −11%. Boʻshagan yerlardagi meliorativ holat 3.3-boʻlimda tahlil qilinadi.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viloyat paxta hisobotlari (reja va amaldagi maydon aralash); tumanlar ekin joylashtirish rejalari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Ekin tarkibi: Andijon viloyati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Ekin joylashtirish, ming ga (2024 yil hosili uchun reja)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281,5 ming 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ekin joylashtirish (asosiy, takroriy ekin va qator oralari bilan)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25% + 25%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Gʻoʻza (71,3 ming ga) va donli ekinlar (70,2 ming ga) tarkibning yarmini tashkil etadi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10,9 ming ga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Sholi — eng koʻp sugʻorish talab qiladigan ekin; asosan Paxtaobod (2 565 ga) va Jalaquduq (1 456 ga)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Andijon viloyati tumanlari boʻyicha ekin joylashtirish prognozi (2024 yil hosili)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Ulugʻnor tumani: kontur bonitet ballari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Sugʻoriladigan yer maydoni bonitet sinflari boʻyicha, ga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3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47,4 ball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 boʻyicha oʻrtacha bonitet (kontur ballari 28 dan 69 gacha)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2 337 kontur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21,0 ming ga ekin maydoni kontur kesimida raqamlangan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ulushi past bonitetli (≤40 ball) yerlarda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5350000"/>
            <a:ext cx="6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Ulugʻnor tumanida paxta hosildorligi viloyat oʻrtachasidan past. Kontur ballari GAT qatlami sifatida 3.3-boʻlimdagi omillar tahlilida ishlatiladi.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Ulugʻnor tumani ekin joylashtirish rejasi (2022 yil hosili), kontur kesimida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taʼminoti va shoʻr yuvish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Sugʻorishga amalda olingan suv, mln m³ (Namangan viloyati)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30000"/>
          <a:ext cx="6500000" cy="30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12800" y="5300000"/>
            <a:ext cx="6500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2023–24 yilda olingan 2 484,9 mln m³ suvning 77% i daryo uzanidan, 19% i ichki soy va daryolardan, 2% dan zovur va yer osti suvlaridan. 2019–20 yilda limit 2 441 dan 3 181,6 mln m³ gacha oshirilgan.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23,2 → 22,7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Shoʻr yuvish maydoni, ming ga (2019–20 → 2023–24); asosan Mingbuloq (15,0 ming ga) tumani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−30%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Sugʻorishga olingan suv 3 181,6 dan 2 226,0 mln m³ gacha kamaygan (2019–20 → 2023–24)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63,4 → 61,0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Paxta maydoni, ming ga; gʻalla esa 74,0 dan 78,0 ming gaga oshgan (2019–20 → 2023–24)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yillik hisobotlari (2019–2024)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Suv omborlari rejimi, 2025 yil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6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Suv ombori hajmi, mln m³ (oy oxiriga)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7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144,4 mln m³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hajmining eng yuqori qiymati (aprel); eng past — 91,6 mln m³ (avgust)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88,1 → 15,9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Kosonsoy hajmi maydan noyabrgacha, mln m³: ekin mavsumida hajm keskin kamayadi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−35%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Rezaksoy yillik eng yuqori hajmi 2018 yildagi 194,0 dan 2024 yilda 126,2 mln m³ gacha kamaygan; 2025 yilda — 143,8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Norin-Sirdaryo IT_HB suv omborlari kunlik va dekadalik maʼlumotlari (2009–2025)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2C6A8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· DASTLABKI MAʼLUMOTLAR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127720"/>
            <a:ext cx="10883392" cy="472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b="0" i="0" dirty="0">
                <a:solidFill>
                  <a:srgbClr val="1D2A24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Namangan viloyati: suv xoʻjaligi obyektlari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11137950" y="6238280"/>
            <a:ext cx="2412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F6B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12800" y="1830000"/>
            <a:ext cx="6200000" cy="2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C6A85"/>
                </a:solidFill>
                <a:latin typeface="Inter"/>
              </a:rPr>
              <a:t>Davlat roʻyxatidan oʻtgan ulushi (maydon boʻyicha), 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2800" y="2100000"/>
          <a:ext cx="6500000" cy="395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700000" y="183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0000" y="195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6 527 obyekt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0000" y="239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Jami uzunligi 8 937 km, yer maydoni 28 605,6 ga (29.01.2026 holati)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0000" y="321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30000" y="333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2C6A85"/>
                </a:solidFill>
                <a:latin typeface="Source Serif 4"/>
              </a:rPr>
              <a:t>53%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0000" y="377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Maydonning 15 273 ga qismi davlat roʻyxatidan oʻtgan; 39,5% (11 300 ga) hali oʻtmagan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00000" y="4590000"/>
            <a:ext cx="3996192" cy="1230000"/>
          </a:xfrm>
          <a:prstGeom prst="roundRect">
            <a:avLst>
              <a:gd name="adj" fmla="val 5000"/>
            </a:avLst>
          </a:prstGeom>
          <a:solidFill>
            <a:srgbClr val="FBF9F4"/>
          </a:solidFill>
          <a:ln w="6350">
            <a:solidFill>
              <a:srgbClr val="D9D2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0000" y="4710000"/>
            <a:ext cx="3536192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A4521D"/>
                </a:solidFill>
                <a:latin typeface="Source Serif 4"/>
              </a:rPr>
              <a:t>5 044 km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0000" y="5150000"/>
            <a:ext cx="3536192" cy="6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C5852"/>
                </a:solidFill>
                <a:latin typeface="Inter"/>
              </a:rPr>
              <a:t>Zovur tarmogʻi: 344 kollektor (1 814 km) va 4 384 ichki zovur (3 230 km); ichki zovurlar roʻyxatdan oʻtmagan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23828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F6B64"/>
                </a:solidFill>
                <a:latin typeface="Inter"/>
              </a:rPr>
              <a:t>Manba: Namangan viloyati suv xoʻjaligi obyektlarini davlat roʻyxatidan oʻtkazish toʻgʻrisida maʼlumot, 29.01.2026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ʻarbiy Fargʻona tuproqlari — GAT asosida bashoratlash">
  <a:themeElements>
    <a:clrScheme name="Gʻarbiy Fargʻona tuproqlari — GAT asosida bashoratlash">
      <a:dk1>
        <a:srgbClr val="1D2A24"/>
      </a:dk1>
      <a:lt1>
        <a:srgbClr val="F4F1EA"/>
      </a:lt1>
      <a:dk2>
        <a:srgbClr val="535C56"/>
      </a:dk2>
      <a:lt2>
        <a:srgbClr val="DFDDD6"/>
      </a:lt2>
      <a:accent1>
        <a:srgbClr val="A4521D"/>
      </a:accent1>
      <a:accent2>
        <a:srgbClr val="2C6A85"/>
      </a:accent2>
      <a:accent3>
        <a:srgbClr val="E3925A"/>
      </a:accent3>
      <a:accent4>
        <a:srgbClr val="8CC3DB"/>
      </a:accent4>
      <a:accent5>
        <a:srgbClr val="F6DCC6"/>
      </a:accent5>
      <a:accent6>
        <a:srgbClr val="5F6B64"/>
      </a:accent6>
      <a:hlink>
        <a:srgbClr val="0563C1"/>
      </a:hlink>
      <a:folHlink>
        <a:srgbClr val="954F72"/>
      </a:folHlink>
    </a:clrScheme>
    <a:fontScheme name="Gʻarbiy Fargʻona tuproqlari — GAT asosida bashoratlash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Gʻarbiy Fargʻona tuproqlari — GAT asosida bashoratlash</dc:title>
  <dc:subject/>
  <dc:creator/>
  <cp:lastModifiedBy/>
  <cp:revision>1</cp:revision>
  <dcterms:created xsi:type="dcterms:W3CDTF">2026-10-09T02:22:44Z</dcterms:created>
  <dcterms:modified xsi:type="dcterms:W3CDTF">2026-10-09T02:22:44Z</dcterms:modified>
</cp:coreProperties>
</file>
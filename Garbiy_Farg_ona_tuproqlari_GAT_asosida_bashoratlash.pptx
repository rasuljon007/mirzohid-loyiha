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dPt>
            <c:idx val="9"/>
            <c:spPr>
              <a:solidFill>
                <a:srgbClr val="A9C4D1"/>
              </a:solidFill>
            </c:spPr>
          </c:dPt>
          <c:cat>
            <c:strRef>
              <c:f>Sheet1!$A$2:$A$11</c:f>
              <c:strCache>
                <c:ptCount val="10"/>
                <c:pt idx="0">
                  <c:v>Dangʻara</c:v>
                </c:pt>
                <c:pt idx="1">
                  <c:v>Uchkoʻprik</c:v>
                </c:pt>
                <c:pt idx="2">
                  <c:v>Yozyovon</c:v>
                </c:pt>
                <c:pt idx="3">
                  <c:v>Bogʻdod</c:v>
                </c:pt>
                <c:pt idx="4">
                  <c:v>Buvayda</c:v>
                </c:pt>
                <c:pt idx="5">
                  <c:v>Rishton</c:v>
                </c:pt>
                <c:pt idx="6">
                  <c:v>Qoʻshtepa</c:v>
                </c:pt>
                <c:pt idx="7">
                  <c:v>Oltiariq</c:v>
                </c:pt>
                <c:pt idx="8">
                  <c:v>Toshloq</c:v>
                </c:pt>
                <c:pt idx="9">
                  <c:v>Quva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64.0</c:v>
                </c:pt>
                <c:pt idx="1">
                  <c:v>57.3</c:v>
                </c:pt>
                <c:pt idx="2">
                  <c:v>56.8</c:v>
                </c:pt>
                <c:pt idx="3">
                  <c:v>53.3</c:v>
                </c:pt>
                <c:pt idx="4">
                  <c:v>53.0</c:v>
                </c:pt>
                <c:pt idx="5">
                  <c:v>46.7</c:v>
                </c:pt>
                <c:pt idx="6">
                  <c:v>40.0</c:v>
                </c:pt>
                <c:pt idx="7">
                  <c:v>33.5</c:v>
                </c:pt>
                <c:pt idx="8">
                  <c:v>24.6</c:v>
                </c:pt>
                <c:pt idx="9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28.9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3.9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2.9</c:v>
                </c:pt>
                <c:pt idx="1">
                  <c:v>0.3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Tarkibi koʻrsatilmagan</c:v>
                </c:pt>
              </c:strCache>
            </c:strRef>
          </c:tx>
          <c:spPr>
            <a:solidFill>
              <a:srgbClr val="B5B2A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26.2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9D2C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110</c:v>
                </c:pt>
                <c:pt idx="2">
                  <c:v>73</c:v>
                </c:pt>
                <c:pt idx="3">
                  <c:v>28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109</c:v>
                </c:pt>
                <c:pt idx="2">
                  <c:v>30</c:v>
                </c:pt>
                <c:pt idx="3">
                  <c:v>21</c:v>
                </c:pt>
                <c:pt idx="4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6E9DB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</c:v>
                </c:pt>
                <c:pt idx="1">
                  <c:v>127</c:v>
                </c:pt>
                <c:pt idx="2">
                  <c:v>65</c:v>
                </c:pt>
                <c:pt idx="3">
                  <c:v>25</c:v>
                </c:pt>
                <c:pt idx="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51.6</c:v>
                </c:pt>
                <c:pt idx="1">
                  <c:v>110.9</c:v>
                </c:pt>
                <c:pt idx="2">
                  <c:v>22.1</c:v>
                </c:pt>
                <c:pt idx="3">
                  <c:v>22.8</c:v>
                </c:pt>
                <c:pt idx="4">
                  <c:v>11.1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  <c:majorUnit val="35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73,9 → 82,1 → 77,8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maydoni, ming ga (2021 → 2022 → 2023); donli ekinlar 99,5 → 99,5 → 95,7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6A85"/>
                </a:solidFill>
                <a:latin typeface="Source Serif 4"/>
              </a:rPr>
              <a:t>242,1 → 239,6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Ekin joylashtirish 2022–2023 yillarda 242,1 ming ga; ekin yeri 2025-yil 1-yanvarda 239,6 ming ga (yer hisobi)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(2021–2023), yer hisobi (2025)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tuproqdagi gumus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Gumus miqdori ≤0,80% boʻlgan yerlar ulushi, % (10 tuman)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191,7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10 tumanda sugʻoriladigan yer konturlari boʻyicha tuproq taʼminlanganligi tahlil qilingan (gumus, fosfor, kaliy)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44%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0,80% gacha (juda kam va kam) boʻlgan yerlar — 85,1 ming ga; oʻrtacha (0,81–1,20%) — 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64% → 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Kam gumusli yerlar ulushi Dangʻarada eng yuqori, Quvada eng past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 sugʻoriladigan yerlarining gumus, harakatchan fosfor va almashinuvchi kaliy bilan taʼminlanganligi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ming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33,6 → 33,1 → 26,2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(2023–24 → 2024–25 → 2025–26 reja); soʻnggi mavsumda reja −22%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2,9 → 0,3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yer, ming ga (2023–24 → 2024–25); oʻrta shoʻrlangan 7,7 dan 3,9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2025–26 mavsumida 10.01.2026 gacha 17 474 ga (26 170 ga rejadan) yuvilgan; 1 289 xoʻjalik ish boshlagan, 220 tasi boshlamagan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shoʻr yuvish maʼlumotlari (2023–24, 2024–25 va 10.01.2026 holati); tuman tarkibi yillar boʻyicha farq qiladi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omborlari: 9 yanvar holati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 9 yanvarda, mln m³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909,3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 suv ombori (quvvati 1 900): 2025 yilning shu kuniga nisbatan −20%, 2024 yilga nisbatan +10%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65 dan 22,1 mln m³ gacha kamaygan (2025 → 2026); Karkidon −32%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110,9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(quvvati 300): 2025 yilda 127, 2024 va 2023 yillarda 109–110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respublika va respublikalararo suv omborlari ishlashi toʻgʻrisida maʼlumot, 2026-yil 9-yanvar holati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ADABIYOT TAHLILI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Markaziy Fargʻona tuproqlari: oldingi tadqiqot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
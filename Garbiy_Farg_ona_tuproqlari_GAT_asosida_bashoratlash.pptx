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Sheet1!$A$2:$A$9</c:f>
              <c:strCache>
                <c:ptCount val="8"/>
                <c:pt idx="0">
                  <c:v>Baliqchi</c:v>
                </c:pt>
                <c:pt idx="1">
                  <c:v>Qoʻrgʻontepa</c:v>
                </c:pt>
                <c:pt idx="2">
                  <c:v>Izboskan</c:v>
                </c:pt>
                <c:pt idx="3">
                  <c:v>Shahrixon</c:v>
                </c:pt>
                <c:pt idx="4">
                  <c:v>Jalaquduq</c:v>
                </c:pt>
                <c:pt idx="5">
                  <c:v>Paxtaobod</c:v>
                </c:pt>
                <c:pt idx="6">
                  <c:v>Andijon</c:v>
                </c:pt>
                <c:pt idx="7">
                  <c:v>Buloqboshi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9026</c:v>
                </c:pt>
                <c:pt idx="1">
                  <c:v>7414</c:v>
                </c:pt>
                <c:pt idx="2">
                  <c:v>7228</c:v>
                </c:pt>
                <c:pt idx="3">
                  <c:v>6341</c:v>
                </c:pt>
                <c:pt idx="4">
                  <c:v>5330</c:v>
                </c:pt>
                <c:pt idx="5">
                  <c:v>5275</c:v>
                </c:pt>
                <c:pt idx="6">
                  <c:v>3724</c:v>
                </c:pt>
                <c:pt idx="7">
                  <c:v>2403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Sheet1!$A$2:$A$9</c:f>
              <c:strCache>
                <c:ptCount val="8"/>
                <c:pt idx="0">
                  <c:v>Baliqchi</c:v>
                </c:pt>
                <c:pt idx="1">
                  <c:v>Qoʻrgʻontepa</c:v>
                </c:pt>
                <c:pt idx="2">
                  <c:v>Izboskan</c:v>
                </c:pt>
                <c:pt idx="3">
                  <c:v>Shahrixon</c:v>
                </c:pt>
                <c:pt idx="4">
                  <c:v>Jalaquduq</c:v>
                </c:pt>
                <c:pt idx="5">
                  <c:v>Paxtaobod</c:v>
                </c:pt>
                <c:pt idx="6">
                  <c:v>Andijon</c:v>
                </c:pt>
                <c:pt idx="7">
                  <c:v>Buloqboshi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7800</c:v>
                </c:pt>
                <c:pt idx="1">
                  <c:v>6618</c:v>
                </c:pt>
                <c:pt idx="2">
                  <c:v>6300</c:v>
                </c:pt>
                <c:pt idx="3">
                  <c:v>5650</c:v>
                </c:pt>
                <c:pt idx="4">
                  <c:v>4073</c:v>
                </c:pt>
                <c:pt idx="5">
                  <c:v>4450</c:v>
                </c:pt>
                <c:pt idx="6">
                  <c:v>2855</c:v>
                </c:pt>
                <c:pt idx="7">
                  <c:v>2214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0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7650</c:v>
                </c:pt>
                <c:pt idx="1">
                  <c:v>6890</c:v>
                </c:pt>
                <c:pt idx="2">
                  <c:v>5900</c:v>
                </c:pt>
                <c:pt idx="3">
                  <c:v>5920</c:v>
                </c:pt>
                <c:pt idx="4">
                  <c:v>5860</c:v>
                </c:pt>
                <c:pt idx="5">
                  <c:v>5700</c:v>
                </c:pt>
                <c:pt idx="6">
                  <c:v>5500</c:v>
                </c:pt>
                <c:pt idx="7">
                  <c:v>5451</c:v>
                </c:pt>
                <c:pt idx="8">
                  <c:v>5200</c:v>
                </c:pt>
                <c:pt idx="9">
                  <c:v>4900</c:v>
                </c:pt>
                <c:pt idx="10">
                  <c:v>4850</c:v>
                </c:pt>
                <c:pt idx="11">
                  <c:v>4800</c:v>
                </c:pt>
                <c:pt idx="12">
                  <c:v>4800</c:v>
                </c:pt>
                <c:pt idx="13">
                  <c:v>4400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17674.7</c:v>
                </c:pt>
                <c:pt idx="1">
                  <c:v>10466.1</c:v>
                </c:pt>
                <c:pt idx="2">
                  <c:v>257.9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17004.0</c:v>
                </c:pt>
                <c:pt idx="1">
                  <c:v>7160.8</c:v>
                </c:pt>
                <c:pt idx="2">
                  <c:v>246.0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</c:v>
                </c:pt>
                <c:pt idx="1">
                  <c:v>4.0</c:v>
                </c:pt>
                <c:pt idx="2">
                  <c:v>3.0</c:v>
                </c:pt>
                <c:pt idx="3">
                  <c:v>1.5</c:v>
                </c:pt>
                <c:pt idx="4">
                  <c:v>2.4</c:v>
                </c:pt>
                <c:pt idx="5">
                  <c:v>3.5</c:v>
                </c:pt>
                <c:pt idx="6">
                  <c:v>5.2</c:v>
                </c:pt>
                <c:pt idx="7">
                  <c:v>2.2</c:v>
                </c:pt>
                <c:pt idx="8">
                  <c:v>2.0</c:v>
                </c:pt>
                <c:pt idx="9">
                  <c:v>2.7</c:v>
                </c:pt>
                <c:pt idx="10">
                  <c:v>0.2</c:v>
                </c:pt>
                <c:pt idx="11">
                  <c:v>0.6</c:v>
                </c:pt>
                <c:pt idx="12">
                  <c:v>1.2</c:v>
                </c:pt>
                <c:pt idx="1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9.4</c:v>
                </c:pt>
                <c:pt idx="1">
                  <c:v>8.4</c:v>
                </c:pt>
                <c:pt idx="2">
                  <c:v>6.4</c:v>
                </c:pt>
                <c:pt idx="3">
                  <c:v>6.0</c:v>
                </c:pt>
                <c:pt idx="4">
                  <c:v>5.5</c:v>
                </c:pt>
                <c:pt idx="5">
                  <c:v>5.0</c:v>
                </c:pt>
                <c:pt idx="6">
                  <c:v>4.5</c:v>
                </c:pt>
                <c:pt idx="7">
                  <c:v>4.4</c:v>
                </c:pt>
                <c:pt idx="8">
                  <c:v>3.8</c:v>
                </c:pt>
                <c:pt idx="9">
                  <c:v>3.6</c:v>
                </c:pt>
                <c:pt idx="10">
                  <c:v>2.5</c:v>
                </c:pt>
                <c:pt idx="11">
                  <c:v>2.4</c:v>
                </c:pt>
                <c:pt idx="12">
                  <c:v>1.8</c:v>
                </c:pt>
                <c:pt idx="13">
                  <c:v>1.2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61.0</c:v>
                </c:pt>
                <c:pt idx="1">
                  <c:v>48.9</c:v>
                </c:pt>
                <c:pt idx="2">
                  <c:v>48.9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Bugʻdoy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68.0</c:v>
                </c:pt>
                <c:pt idx="1">
                  <c:v>66.0</c:v>
                </c:pt>
                <c:pt idx="2">
                  <c:v>64.4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11.1</c:v>
                </c:pt>
                <c:pt idx="1">
                  <c:v>12.9</c:v>
                </c:pt>
                <c:pt idx="2">
                  <c:v>2.7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11.7</c:v>
                </c:pt>
                <c:pt idx="1">
                  <c:v>13.0</c:v>
                </c:pt>
                <c:pt idx="2">
                  <c:v>2.9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0.45</c:v>
                </c:pt>
                <c:pt idx="1">
                  <c:v>0.48</c:v>
                </c:pt>
                <c:pt idx="2">
                  <c:v>0.64</c:v>
                </c:pt>
                <c:pt idx="3">
                  <c:v>0.57</c:v>
                </c:pt>
                <c:pt idx="4">
                  <c:v>0.61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1.29</c:v>
                </c:pt>
                <c:pt idx="1">
                  <c:v>1.39</c:v>
                </c:pt>
                <c:pt idx="2">
                  <c:v>1.42</c:v>
                </c:pt>
                <c:pt idx="3">
                  <c:v>1.31</c:v>
                </c:pt>
                <c:pt idx="4">
                  <c:v>1.71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1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dPt>
            <c:idx val="9"/>
            <c:spPr>
              <a:solidFill>
                <a:srgbClr val="A9C4D1"/>
              </a:solidFill>
            </c:spPr>
          </c:dPt>
          <c:cat>
            <c:strRef>
              <c:f>Sheet1!$A$2:$A$11</c:f>
              <c:strCache>
                <c:ptCount val="10"/>
                <c:pt idx="0">
                  <c:v>Dangʻara</c:v>
                </c:pt>
                <c:pt idx="1">
                  <c:v>Uchkoʻprik</c:v>
                </c:pt>
                <c:pt idx="2">
                  <c:v>Yozyovon</c:v>
                </c:pt>
                <c:pt idx="3">
                  <c:v>Bogʻdod</c:v>
                </c:pt>
                <c:pt idx="4">
                  <c:v>Buvayda</c:v>
                </c:pt>
                <c:pt idx="5">
                  <c:v>Rishton</c:v>
                </c:pt>
                <c:pt idx="6">
                  <c:v>Qoʻshtepa</c:v>
                </c:pt>
                <c:pt idx="7">
                  <c:v>Oltiariq</c:v>
                </c:pt>
                <c:pt idx="8">
                  <c:v>Toshloq</c:v>
                </c:pt>
                <c:pt idx="9">
                  <c:v>Quva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64.0</c:v>
                </c:pt>
                <c:pt idx="1">
                  <c:v>57.3</c:v>
                </c:pt>
                <c:pt idx="2">
                  <c:v>56.8</c:v>
                </c:pt>
                <c:pt idx="3">
                  <c:v>53.3</c:v>
                </c:pt>
                <c:pt idx="4">
                  <c:v>53.0</c:v>
                </c:pt>
                <c:pt idx="5">
                  <c:v>46.7</c:v>
                </c:pt>
                <c:pt idx="6">
                  <c:v>40.0</c:v>
                </c:pt>
                <c:pt idx="7">
                  <c:v>33.5</c:v>
                </c:pt>
                <c:pt idx="8">
                  <c:v>24.6</c:v>
                </c:pt>
                <c:pt idx="9">
                  <c:v>17.2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28.9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3.9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2.9</c:v>
                </c:pt>
                <c:pt idx="1">
                  <c:v>0.3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Tarkibi koʻrsatilmagan</c:v>
                </c:pt>
              </c:strCache>
            </c:strRef>
          </c:tx>
          <c:spPr>
            <a:solidFill>
              <a:srgbClr val="B5B2A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26.2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 (reja)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73.9</c:v>
                </c:pt>
                <c:pt idx="1">
                  <c:v>82.1</c:v>
                </c:pt>
                <c:pt idx="2">
                  <c:v>77.8</c:v>
                </c:pt>
                <c:pt idx="3">
                  <c:v>76.0</c:v>
                </c:pt>
                <c:pt idx="4">
                  <c:v>72.0</c:v>
                </c:pt>
                <c:pt idx="5">
                  <c:v>72.0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Donli ekinlar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 (reja)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99.5</c:v>
                </c:pt>
                <c:pt idx="1">
                  <c:v>99.5</c:v>
                </c:pt>
                <c:pt idx="2">
                  <c:v>95.7</c:v>
                </c:pt>
                <c:pt idx="3">
                  <c:v>95.7</c:v>
                </c:pt>
                <c:pt idx="4">
                  <c:v>94.3</c:v>
                </c:pt>
                <c:pt idx="5">
                  <c:v>92.2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D9D2C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110</c:v>
                </c:pt>
                <c:pt idx="2">
                  <c:v>73</c:v>
                </c:pt>
                <c:pt idx="3">
                  <c:v>28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109</c:v>
                </c:pt>
                <c:pt idx="2">
                  <c:v>30</c:v>
                </c:pt>
                <c:pt idx="3">
                  <c:v>21</c:v>
                </c:pt>
                <c:pt idx="4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6E9DB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76</c:v>
                </c:pt>
                <c:pt idx="1">
                  <c:v>127</c:v>
                </c:pt>
                <c:pt idx="2">
                  <c:v>65</c:v>
                </c:pt>
                <c:pt idx="3">
                  <c:v>25</c:v>
                </c:pt>
                <c:pt idx="4">
                  <c:v>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51.6</c:v>
                </c:pt>
                <c:pt idx="1">
                  <c:v>110.9</c:v>
                </c:pt>
                <c:pt idx="2">
                  <c:v>22.1</c:v>
                </c:pt>
                <c:pt idx="3">
                  <c:v>22.8</c:v>
                </c:pt>
                <c:pt idx="4">
                  <c:v>11.1</c:v>
                </c:pt>
              </c:numCache>
            </c:numRef>
          </c:val>
        </c:ser>
        <c:gapWidth val="5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  <c:majorUnit val="35.0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0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PQ-277 (10.06.2022), PQ-5006 (24.02.2021), PF-130 (12.08.2025)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5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5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96192" y="1830000"/>
            <a:ext cx="57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936192" y="2130000"/>
          <a:ext cx="57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2026 yil tuman rejalarida pasayish davom etadi (8 tuman: −8% dan −24% gacha; eng koʻp Jalaquduq −24%, Andijon −23%, Paxtaobod −16%).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2025–26); asosan Mingbuloq tumani (14,7 ming ga)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va 2023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73,9 → 82,1 → 77,8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viloyatida gʻoʻza maydoni, ming ga (2021 → 2022 → 2023); donli ekinlar 99,5 → 99,5 → 95,7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C6A85"/>
                </a:solidFill>
                <a:latin typeface="Source Serif 4"/>
              </a:rPr>
              <a:t>242,1 → 239,6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Ekin joylashtirish 2022–2023 yillarda 242,1 ming ga; ekin yeri 2025-yil 1-yanvarda 239,6 ming ga (yer hisobi)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11 177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ga; 2 587 paxta-gʻallachilik xoʻjaligi — 217,0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(2021–2023), yer hisobi (2025) va fermer xoʻjaliklari ixtisosligi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shoʻr yuvish bajarilishi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yuvish, ga: reja va amalda (2025–26, 16.01.2026 holati)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22 560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yuvishga tayyorlangan yer (2024–25 yilda — 22 657 ga); 100% bajarilgan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bajarilishi: 24 411 dan 28 399 ga (16.01.2026); 2024–25 yilda mavsum oxirida — 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68,4%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Pop tumanida bajarilish eng past (7 161 dan 10 466 ga); Mingbuloqda — 96,2%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shoʻr yuvish hisobotlari (11.02.2025 va 16.01.2026)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suv olish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Tumanlarga ajratilgan suv sarfi, m³/s (10.01.2026):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65,5 m³/s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 boʻyicha amalda olingan suv; kunlik reja — 34,5 m³/s (+90%)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13 ta tuman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Amalda olingan suv rejadan yuqori; Oʻzbekiston tumanida 6,0 (reja 1,5), Buvayda va Dangʻarada ~2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Yanvar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Hisobot sanasi (10.01.2026) shoʻr yuvish mavsumiga toʻgʻri keladi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tumanlarga suv manbalaridan ajratilayotgan suv sarflari toʻgʻrisida maʼlumot, 10.01.2026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bugʻdoy maydoni, ming ga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61,0 dan 48,9 ming gaga kamaygan (2024 → 2025); 2026 yil rejasida ham 48,9 ming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182,7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2026 yil jami ekin joylashtirish (2025 yilda 196,7 ming ga, −7%); asosiy kamayish Pop tumanida: 37,6 → 27,9 ming 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4521D"/>
                </a:solidFill>
                <a:latin typeface="Source Serif 4"/>
              </a:rPr>
              <a:t>Pop va Mingbuloq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Gʻoʻzaning eng katta maydonlari: 2025 yilda Mingbuloq 10,7 va Pop 6,3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2024, 2025 va 2026 yil hosili uchun ekin joylashtirish rejalari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yer degradatsiyasi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Degradatsiyani kamaytirish tadbirlari, ming ga (2025):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1% gacha boʻlgan tuproqlarda unumdorlik oshirilgan (105,8%); asosan Pop (6,7) va Mingbuloq (1,8)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0,3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Tuproq shoʻrlanishini kamaytirish: Mingbuloq 0,2, Pop 0,1 (reja 110% bajarilgan)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Degradatsiyaga uchragan yerlar holati yaxshilangan (108,3%); Pop tumanida — 2,3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viloyatida 2025 yilda yer degradatsiyasini kamaytirish prognoz koʻrsatkichlarining bajarilishi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suv unumdorligi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1 m³ sugʻorish suvidan olingan hosil, kg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Paxtaga 1 ga uchun berilgan suv 7,31 dan 5,72 ming m³ gacha kamaygan (2019 → 2024); hosildorlik 32,6 dan 35,1 s/ga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+36%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Paxtada 1 m³ suvdan olingan hosil 0,45 dan 0,61 kg gacha oshgan; donda 1,29 dan 1,71 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5,5 barobar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1 ga ga 31,6 ming m³ suv sarflaydi (paxta — 5,7 ming m³), 1 m³ dan 0,14 kg hosil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1 m³ suv bilan olingan qishloq xoʻjalik mahsulotlari (2021 yil nusxa boʻlgani uchun chiqarilgan)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tuproqdagi gumus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Gumus miqdori ≤0,80% boʻlgan yerlar ulushi, % (10 tuman)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191,7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10 tumanda sugʻoriladigan yer konturlari boʻyicha tuproq taʼminlanganligi tahlil qilingan (gumus, fosfor, kaliy)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44%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0,80% gacha (juda kam va kam) boʻlgan yerlar — 85,1 ming ga; oʻrtacha (0,81–1,20%) — 36%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64% → 17%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Kam gumusli yerlar ulushi Dangʻarada eng yuqori, Quvada eng past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 sugʻoriladigan yerlarining gumus, harakatchan fosfor va almashinuvchi kaliy bilan taʼminlanganligi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ming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33,6 → 33,1 → 26,2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(2023–24 → 2024–25 → 2025–26 reja); soʻnggi mavsumda reja −22%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2,9 → 0,3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yer, ming ga (2023–24 → 2024–25); oʻrta shoʻrlangan 7,7 dan 3,9 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2025–26 mavsumida 10.01.2026 gacha 17 474 ga (26 170 ga rejadan) yuvilgan; 1 289 xoʻjalik ish boshlagan, 220 tasi boshlamagan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shoʻr yuvish maʼlumotlari (2023–24, 2024–25 va 10.01.2026 holati); tuman tarkibi yillar boʻyicha farq qiladi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gʻoʻza va donli ekinlar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donli ekinlar maydoni, ming ga (2021–2026)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82,1 dan 72,0 ming gaga kamayadi (2022 → 2026 reja); 2025 va 2026 rejalarida bir xil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Donli ekinlar 99,5 dan 92,2 ming gaga (2021 → 2026 reja)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 viloyat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Andijon, Fargʻona va Namangan: paxta maydoni barchasida qisqarmoqda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va takliflari (2021–2026); 2025–2026 — taklif/reja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omborlari: 9 yanvar holati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 9 yanvarda, mln m³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909,3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 suv ombori (quvvati 1 900): 2025 yilning shu kuniga nisbatan −20%, 2024 yilga nisbatan +10%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65 dan 22,1 mln m³ gacha kamaygan (2025 → 2026); Karkidon −32%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110,9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(quvvati 300): 2025 yilda 127, 2024 va 2023 yillarda 109–110 mln 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respublika va respublikalararo suv omborlari ishlashi toʻgʻrisida maʼlumot, 2026-yil 9-yanvar holati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· ADABIYOT TAHLILI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Markaziy Fargʻona tuproqlari: oldingi tadqiqot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2800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0,86–0,96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800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Gumus miqdori bilan gʻoʻza hosildorligi orasidagi korrelyatsiya (r): oʻtloqi 0,92, oʻtloqi-saz 0,96, choʻl-oʻtloqi 0,86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4496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496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1,5–2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4496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Qoʻshtepa tumanida botqoq-oʻtloqi tuproqlarda sizot suvlari sathi pasaygan va tuproqlar oʻtloqi tomon oʻzgargan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800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800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1999 →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800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Choʻl-oʻtloqi tuproqlarda gumus 0,19–0,51% dan 0,39–0,92% gacha oshgan; bonitet 1,0–4,7 ballga yaxshilangan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4496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496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96,7–199,9 t/ga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496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Tuproqning 0–1 m qatlamida tuzlar zahirasi; 1:10 000 miqyosli shoʻrlanish kartogrammalari tuzilgan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5700000"/>
            <a:ext cx="108833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 misolida; ish GAT texnologiyalari asosida gipsli tuproqlar xaritasi loyihasi doirasida bajarilgan.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M.K.Pulatov, PhD avtoreferati (Markaziy Fargʻona tuproqlari), Toshkent,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
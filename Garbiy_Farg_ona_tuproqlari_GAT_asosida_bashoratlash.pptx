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2019–20</c:v>
                </c:pt>
                <c:pt idx="1">
                  <c:v>2020–21</c:v>
                </c:pt>
                <c:pt idx="2">
                  <c:v>2021–22</c:v>
                </c:pt>
                <c:pt idx="3">
                  <c:v>2022–23</c:v>
                </c:pt>
                <c:pt idx="4">
                  <c:v>2023–24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3181.6</c:v>
                </c:pt>
                <c:pt idx="1">
                  <c:v>2366.1</c:v>
                </c:pt>
                <c:pt idx="2">
                  <c:v>2414.9</c:v>
                </c:pt>
                <c:pt idx="3">
                  <c:v>2414.9</c:v>
                </c:pt>
                <c:pt idx="4">
                  <c:v>2226.0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dPt>
            <c:idx val="6"/>
            <c:spPr>
              <a:solidFill>
                <a:srgbClr val="A4521D"/>
              </a:solidFill>
            </c:spPr>
          </c:dPt>
          <c:dPt>
            <c:idx val="7"/>
            <c:spPr>
              <a:solidFill>
                <a:srgbClr val="A4521D"/>
              </a:solidFill>
            </c:spPr>
          </c:dPt>
          <c:cat>
            <c:strRef>
              <c:f>Sheet1!$A$2:$A$9</c:f>
              <c:strCache>
                <c:ptCount val="8"/>
                <c:pt idx="0">
                  <c:v>Nasos stansiyalari</c:v>
                </c:pt>
                <c:pt idx="1">
                  <c:v>Daryolar</c:v>
                </c:pt>
                <c:pt idx="2">
                  <c:v>Suv va sel omborlari</c:v>
                </c:pt>
                <c:pt idx="3">
                  <c:v>Tik quduqlar</c:v>
                </c:pt>
                <c:pt idx="4">
                  <c:v>Kanallar</c:v>
                </c:pt>
                <c:pt idx="5">
                  <c:v>Soylar</c:v>
                </c:pt>
                <c:pt idx="6">
                  <c:v>Kollektorlar (zovur)</c:v>
                </c:pt>
                <c:pt idx="7">
                  <c:v>Ichki zovurlar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93</c:v>
                </c:pt>
                <c:pt idx="2">
                  <c:v>81</c:v>
                </c:pt>
                <c:pt idx="3">
                  <c:v>64</c:v>
                </c:pt>
                <c:pt idx="4">
                  <c:v>62</c:v>
                </c:pt>
                <c:pt idx="5">
                  <c:v>32</c:v>
                </c:pt>
                <c:pt idx="6">
                  <c:v>27</c:v>
                </c:pt>
                <c:pt idx="7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7995</c:v>
                </c:pt>
                <c:pt idx="1">
                  <c:v>7240</c:v>
                </c:pt>
                <c:pt idx="2">
                  <c:v>6225</c:v>
                </c:pt>
                <c:pt idx="3">
                  <c:v>6220</c:v>
                </c:pt>
                <c:pt idx="4">
                  <c:v>6190</c:v>
                </c:pt>
                <c:pt idx="5">
                  <c:v>5950</c:v>
                </c:pt>
                <c:pt idx="6">
                  <c:v>5815</c:v>
                </c:pt>
                <c:pt idx="7">
                  <c:v>5720</c:v>
                </c:pt>
                <c:pt idx="8">
                  <c:v>5425</c:v>
                </c:pt>
                <c:pt idx="9">
                  <c:v>5210</c:v>
                </c:pt>
                <c:pt idx="10">
                  <c:v>5200</c:v>
                </c:pt>
                <c:pt idx="11">
                  <c:v>5120</c:v>
                </c:pt>
                <c:pt idx="12">
                  <c:v>5120</c:v>
                </c:pt>
                <c:pt idx="13">
                  <c:v>4650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7650</c:v>
                </c:pt>
                <c:pt idx="1">
                  <c:v>6890</c:v>
                </c:pt>
                <c:pt idx="2">
                  <c:v>5900</c:v>
                </c:pt>
                <c:pt idx="3">
                  <c:v>5920</c:v>
                </c:pt>
                <c:pt idx="4">
                  <c:v>5860</c:v>
                </c:pt>
                <c:pt idx="5">
                  <c:v>5700</c:v>
                </c:pt>
                <c:pt idx="6">
                  <c:v>5500</c:v>
                </c:pt>
                <c:pt idx="7">
                  <c:v>5451</c:v>
                </c:pt>
                <c:pt idx="8">
                  <c:v>5200</c:v>
                </c:pt>
                <c:pt idx="9">
                  <c:v>4900</c:v>
                </c:pt>
                <c:pt idx="10">
                  <c:v>4850</c:v>
                </c:pt>
                <c:pt idx="11">
                  <c:v>4800</c:v>
                </c:pt>
                <c:pt idx="12">
                  <c:v>4800</c:v>
                </c:pt>
                <c:pt idx="13">
                  <c:v>4400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3914</c:v>
                </c:pt>
                <c:pt idx="1">
                  <c:v>4782</c:v>
                </c:pt>
                <c:pt idx="2">
                  <c:v>4253</c:v>
                </c:pt>
                <c:pt idx="3">
                  <c:v>3483</c:v>
                </c:pt>
                <c:pt idx="4">
                  <c:v>1760</c:v>
                </c:pt>
                <c:pt idx="5">
                  <c:v>2770</c:v>
                </c:pt>
                <c:pt idx="6">
                  <c:v>1930</c:v>
                </c:pt>
                <c:pt idx="7">
                  <c:v>1777</c:v>
                </c:pt>
                <c:pt idx="8">
                  <c:v>1790</c:v>
                </c:pt>
                <c:pt idx="9">
                  <c:v>1611</c:v>
                </c:pt>
                <c:pt idx="10">
                  <c:v>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1946</c:v>
                </c:pt>
                <c:pt idx="1">
                  <c:v>409</c:v>
                </c:pt>
                <c:pt idx="2">
                  <c:v>97</c:v>
                </c:pt>
                <c:pt idx="3">
                  <c:v>330</c:v>
                </c:pt>
                <c:pt idx="4">
                  <c:v>890</c:v>
                </c:pt>
                <c:pt idx="5">
                  <c:v>0</c:v>
                </c:pt>
                <c:pt idx="6">
                  <c:v>0</c:v>
                </c:pt>
                <c:pt idx="7">
                  <c:v>143</c:v>
                </c:pt>
                <c:pt idx="8">
                  <c:v>0</c:v>
                </c:pt>
                <c:pt idx="9">
                  <c:v>41</c:v>
                </c:pt>
                <c:pt idx="10">
                  <c:v>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109</c:v>
                </c:pt>
                <c:pt idx="2">
                  <c:v>88</c:v>
                </c:pt>
                <c:pt idx="3">
                  <c:v>0</c:v>
                </c:pt>
                <c:pt idx="4">
                  <c:v>122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2202</c:v>
                </c:pt>
                <c:pt idx="1">
                  <c:v>956</c:v>
                </c:pt>
                <c:pt idx="2">
                  <c:v>297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1627</c:v>
                </c:pt>
                <c:pt idx="1">
                  <c:v>293</c:v>
                </c:pt>
                <c:pt idx="2">
                  <c:v>305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17674.7</c:v>
                </c:pt>
                <c:pt idx="1">
                  <c:v>10466.1</c:v>
                </c:pt>
                <c:pt idx="2">
                  <c:v>257.9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17004.0</c:v>
                </c:pt>
                <c:pt idx="1">
                  <c:v>7160.8</c:v>
                </c:pt>
                <c:pt idx="2">
                  <c:v>246.0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4.7</c:v>
                </c:pt>
                <c:pt idx="1">
                  <c:v>4.0</c:v>
                </c:pt>
                <c:pt idx="2">
                  <c:v>3.0</c:v>
                </c:pt>
                <c:pt idx="3">
                  <c:v>1.5</c:v>
                </c:pt>
                <c:pt idx="4">
                  <c:v>2.4</c:v>
                </c:pt>
                <c:pt idx="5">
                  <c:v>3.5</c:v>
                </c:pt>
                <c:pt idx="6">
                  <c:v>5.2</c:v>
                </c:pt>
                <c:pt idx="7">
                  <c:v>2.2</c:v>
                </c:pt>
                <c:pt idx="8">
                  <c:v>2.0</c:v>
                </c:pt>
                <c:pt idx="9">
                  <c:v>2.7</c:v>
                </c:pt>
                <c:pt idx="10">
                  <c:v>0.2</c:v>
                </c:pt>
                <c:pt idx="11">
                  <c:v>0.6</c:v>
                </c:pt>
                <c:pt idx="12">
                  <c:v>1.2</c:v>
                </c:pt>
                <c:pt idx="13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9.4</c:v>
                </c:pt>
                <c:pt idx="1">
                  <c:v>8.4</c:v>
                </c:pt>
                <c:pt idx="2">
                  <c:v>6.4</c:v>
                </c:pt>
                <c:pt idx="3">
                  <c:v>6.0</c:v>
                </c:pt>
                <c:pt idx="4">
                  <c:v>5.5</c:v>
                </c:pt>
                <c:pt idx="5">
                  <c:v>5.0</c:v>
                </c:pt>
                <c:pt idx="6">
                  <c:v>4.5</c:v>
                </c:pt>
                <c:pt idx="7">
                  <c:v>4.4</c:v>
                </c:pt>
                <c:pt idx="8">
                  <c:v>3.8</c:v>
                </c:pt>
                <c:pt idx="9">
                  <c:v>3.6</c:v>
                </c:pt>
                <c:pt idx="10">
                  <c:v>2.5</c:v>
                </c:pt>
                <c:pt idx="11">
                  <c:v>2.4</c:v>
                </c:pt>
                <c:pt idx="12">
                  <c:v>1.8</c:v>
                </c:pt>
                <c:pt idx="13">
                  <c:v>1.2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4894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[tegishli farmon / qaror raqami va sanasi]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suvlari, minerallashuv, shoʻr yuvish maydoni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yuvish, suv omborlari, zovur tarmogʻi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16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Sugʻorishga amalda olingan suv, mln m³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5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300000"/>
            <a:ext cx="65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2023–24 yilda olingan 2 484,9 mln m³ suvning 77% i daryo uzanidan, 19% i ichki soy va daryolardan, 2% dan zovur va yer osti suvlaridan. 2019–20 yilda limit 2 441 dan 3 181,6 mln m³ gacha oshirilgan.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→ 22,6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(2019–20 → 2025–26); asosan Mingbuloq tumani (14,7 ming ga)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Sugʻorishga olingan suv 3 181,6 dan 2 226,0 mln m³ gacha kamaygan (2019–20 → 2023–24)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63,4 → 61,0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 maydoni, ming ga; gʻalla esa 74,0 dan 78,0 ming gaga oshgan (2019–20 → 2023–24)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yillik hisobotlari (2019–2024)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yillik eng yuqori hajmi 2018 yildagi 194,0 dan 2024 yilda 126,2 mln m³ gacha kamaygan; 2025 yilda — 143,8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va dekadalik maʼlumotlari (2009–2025)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xoʻjaligi obyektlari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Davlat roʻyxatidan oʻtgan ulushi (maydon boʻyicha), 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6 527 obyekt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uzunligi 8 937 km, yer maydoni 28 605,6 ga (29.01.2026 holati)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53%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15 273 ga qismi davlat roʻyxatidan oʻtgan; 39,5% (11 300 ga) hali oʻtmagan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5 044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tarmogʻi: 344 kollektor (1 814 km) va 4 384 ichki zovur (3 230 km); ichki zovurlar roʻyxatdan oʻtmagan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suv xoʻjaligi obyektlarini davlat roʻyxatidan oʻtkazish toʻgʻrisida maʼlumot, 29.01.2026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 tumanlar boʻyicha, ga (2022 va 2023 yil hosili)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viloyatida gʻoʻza maydoni 82,1 dan 77,8 ming gaga kamaygan (2022 → 2023); donli ekinlar 99,5 dan 95,7 ming gaga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242,1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2022 va 2023 yillarda deyarli oʻzgarmagan; tarkib oʻzgargan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11 177 fermer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Fermer xoʻjaliklari (2023-yil 1-yanvar): umumiy yer 350,0 ming ga; 2 587 paxta-gʻallachilik xoʻjaligi — 217,0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(2022, 2023) va fermer xoʻjaliklari ixtisosligi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(2024–2025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33 104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rejasi (11 tuman); kuchli shoʻrlangan yerlar qayta yuvilgani uchun jami ish hajmi 33 423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Kuchsiz shoʻrlangan yerlar (28 918 ga); oʻrta shoʻrlangan — 3 867 ga (11,7%)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319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maydon: Dangʻara (109), Qoʻshtepa (122) va Furqat (88) tumanlarida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tumanlarida 2024–2025 yillarda shoʻr yuviladigan maydonlar toʻgʻrisida maʼlumot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(2023–2024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5 680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yuviladigan maydon: Ulugʻnor 3 829, Baliqchi 1 249, Boʻston 602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ulushi (3 829 ga); paxta hosildorligi ham viloyat oʻrtachasidan past tuman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18,6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Talab etiladigan suv (Ulugʻnor — 12,5); ishlar 15.11.2023 dan 25.01.2024 gacha rejalashtirilgan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tumanlarida 2023–2024 yillar kuzgi-qishki shoʻr yuvish grafigi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shoʻr yuvish bajarilishi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yuvish, ga: reja va amalda (2025–26, 16.01.2026 holati)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22 560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yuvishga tayyorlangan yer (2024–25 yilda — 22 657 ga); 100% bajarilgan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bajarilishi: 24 411 dan 28 399 ga (16.01.2026); 2024–25 yilda mavsum oxirida — 100%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68,4%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Pop tumanida bajarilish eng past (7 161 dan 10 466 ga); Mingbuloqda — 96,2%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shoʻr yuvish hisobotlari (11.02.2025 va 16.01.2026)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suv olish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Tumanlarga ajratilgan suv sarfi, m³/s (10.01.2026):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65,5 m³/s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 boʻyicha amalda olingan suv; kunlik reja — 34,5 m³/s (+90%)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13 ta tuman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Amalda olingan suv rejadan yuqori; Oʻzbekiston tumanida 6,0 (reja 1,5), Buvayda va Dangʻarada ~2 barobar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Yanvar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Hisobot sanasi (10.01.2026) shoʻr yuvish mavsumiga toʻgʻri keladi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tumanlarga suv manbalaridan ajratilayotgan suv sarflari toʻgʻrisida maʼlumot, 10.01.2026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
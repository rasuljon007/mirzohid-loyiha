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7995</c:v>
                </c:pt>
                <c:pt idx="1">
                  <c:v>7240</c:v>
                </c:pt>
                <c:pt idx="2">
                  <c:v>6225</c:v>
                </c:pt>
                <c:pt idx="3">
                  <c:v>6220</c:v>
                </c:pt>
                <c:pt idx="4">
                  <c:v>6190</c:v>
                </c:pt>
                <c:pt idx="5">
                  <c:v>5950</c:v>
                </c:pt>
                <c:pt idx="6">
                  <c:v>5815</c:v>
                </c:pt>
                <c:pt idx="7">
                  <c:v>5720</c:v>
                </c:pt>
                <c:pt idx="8">
                  <c:v>5425</c:v>
                </c:pt>
                <c:pt idx="9">
                  <c:v>5210</c:v>
                </c:pt>
                <c:pt idx="10">
                  <c:v>5200</c:v>
                </c:pt>
                <c:pt idx="11">
                  <c:v>5120</c:v>
                </c:pt>
                <c:pt idx="12">
                  <c:v>5120</c:v>
                </c:pt>
                <c:pt idx="13">
                  <c:v>4650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7650</c:v>
                </c:pt>
                <c:pt idx="1">
                  <c:v>6890</c:v>
                </c:pt>
                <c:pt idx="2">
                  <c:v>5900</c:v>
                </c:pt>
                <c:pt idx="3">
                  <c:v>5920</c:v>
                </c:pt>
                <c:pt idx="4">
                  <c:v>5860</c:v>
                </c:pt>
                <c:pt idx="5">
                  <c:v>5700</c:v>
                </c:pt>
                <c:pt idx="6">
                  <c:v>5500</c:v>
                </c:pt>
                <c:pt idx="7">
                  <c:v>5451</c:v>
                </c:pt>
                <c:pt idx="8">
                  <c:v>5200</c:v>
                </c:pt>
                <c:pt idx="9">
                  <c:v>4900</c:v>
                </c:pt>
                <c:pt idx="10">
                  <c:v>4850</c:v>
                </c:pt>
                <c:pt idx="11">
                  <c:v>4800</c:v>
                </c:pt>
                <c:pt idx="12">
                  <c:v>4800</c:v>
                </c:pt>
                <c:pt idx="13">
                  <c:v>4400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3914</c:v>
                </c:pt>
                <c:pt idx="1">
                  <c:v>4782</c:v>
                </c:pt>
                <c:pt idx="2">
                  <c:v>4253</c:v>
                </c:pt>
                <c:pt idx="3">
                  <c:v>3483</c:v>
                </c:pt>
                <c:pt idx="4">
                  <c:v>1760</c:v>
                </c:pt>
                <c:pt idx="5">
                  <c:v>2770</c:v>
                </c:pt>
                <c:pt idx="6">
                  <c:v>1930</c:v>
                </c:pt>
                <c:pt idx="7">
                  <c:v>1777</c:v>
                </c:pt>
                <c:pt idx="8">
                  <c:v>1790</c:v>
                </c:pt>
                <c:pt idx="9">
                  <c:v>1611</c:v>
                </c:pt>
                <c:pt idx="10">
                  <c:v>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1946</c:v>
                </c:pt>
                <c:pt idx="1">
                  <c:v>409</c:v>
                </c:pt>
                <c:pt idx="2">
                  <c:v>97</c:v>
                </c:pt>
                <c:pt idx="3">
                  <c:v>330</c:v>
                </c:pt>
                <c:pt idx="4">
                  <c:v>890</c:v>
                </c:pt>
                <c:pt idx="5">
                  <c:v>0</c:v>
                </c:pt>
                <c:pt idx="6">
                  <c:v>0</c:v>
                </c:pt>
                <c:pt idx="7">
                  <c:v>143</c:v>
                </c:pt>
                <c:pt idx="8">
                  <c:v>0</c:v>
                </c:pt>
                <c:pt idx="9">
                  <c:v>41</c:v>
                </c:pt>
                <c:pt idx="10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109</c:v>
                </c:pt>
                <c:pt idx="2">
                  <c:v>88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2202</c:v>
                </c:pt>
                <c:pt idx="1">
                  <c:v>956</c:v>
                </c:pt>
                <c:pt idx="2">
                  <c:v>297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1627</c:v>
                </c:pt>
                <c:pt idx="1">
                  <c:v>293</c:v>
                </c:pt>
                <c:pt idx="2">
                  <c:v>305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17674.7</c:v>
                </c:pt>
                <c:pt idx="1">
                  <c:v>10466.1</c:v>
                </c:pt>
                <c:pt idx="2">
                  <c:v>257.9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17004.0</c:v>
                </c:pt>
                <c:pt idx="1">
                  <c:v>7160.8</c:v>
                </c:pt>
                <c:pt idx="2">
                  <c:v>246.0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</c:v>
                </c:pt>
                <c:pt idx="1">
                  <c:v>4.0</c:v>
                </c:pt>
                <c:pt idx="2">
                  <c:v>3.0</c:v>
                </c:pt>
                <c:pt idx="3">
                  <c:v>1.5</c:v>
                </c:pt>
                <c:pt idx="4">
                  <c:v>2.4</c:v>
                </c:pt>
                <c:pt idx="5">
                  <c:v>3.5</c:v>
                </c:pt>
                <c:pt idx="6">
                  <c:v>5.2</c:v>
                </c:pt>
                <c:pt idx="7">
                  <c:v>2.2</c:v>
                </c:pt>
                <c:pt idx="8">
                  <c:v>2.0</c:v>
                </c:pt>
                <c:pt idx="9">
                  <c:v>2.7</c:v>
                </c:pt>
                <c:pt idx="10">
                  <c:v>0.2</c:v>
                </c:pt>
                <c:pt idx="11">
                  <c:v>0.6</c:v>
                </c:pt>
                <c:pt idx="12">
                  <c:v>1.2</c:v>
                </c:pt>
                <c:pt idx="1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9.4</c:v>
                </c:pt>
                <c:pt idx="1">
                  <c:v>8.4</c:v>
                </c:pt>
                <c:pt idx="2">
                  <c:v>6.4</c:v>
                </c:pt>
                <c:pt idx="3">
                  <c:v>6.0</c:v>
                </c:pt>
                <c:pt idx="4">
                  <c:v>5.5</c:v>
                </c:pt>
                <c:pt idx="5">
                  <c:v>5.0</c:v>
                </c:pt>
                <c:pt idx="6">
                  <c:v>4.5</c:v>
                </c:pt>
                <c:pt idx="7">
                  <c:v>4.4</c:v>
                </c:pt>
                <c:pt idx="8">
                  <c:v>3.8</c:v>
                </c:pt>
                <c:pt idx="9">
                  <c:v>3.6</c:v>
                </c:pt>
                <c:pt idx="10">
                  <c:v>2.5</c:v>
                </c:pt>
                <c:pt idx="11">
                  <c:v>2.4</c:v>
                </c:pt>
                <c:pt idx="12">
                  <c:v>1.8</c:v>
                </c:pt>
                <c:pt idx="13">
                  <c:v>1.2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61.0</c:v>
                </c:pt>
                <c:pt idx="1">
                  <c:v>48.9</c:v>
                </c:pt>
                <c:pt idx="2">
                  <c:v>48.9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Bugʻdoy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68.0</c:v>
                </c:pt>
                <c:pt idx="1">
                  <c:v>66.0</c:v>
                </c:pt>
                <c:pt idx="2">
                  <c:v>64.4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11.1</c:v>
                </c:pt>
                <c:pt idx="1">
                  <c:v>12.9</c:v>
                </c:pt>
                <c:pt idx="2">
                  <c:v>2.7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11.7</c:v>
                </c:pt>
                <c:pt idx="1">
                  <c:v>13.0</c:v>
                </c:pt>
                <c:pt idx="2">
                  <c:v>2.9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0.45</c:v>
                </c:pt>
                <c:pt idx="1">
                  <c:v>0.48</c:v>
                </c:pt>
                <c:pt idx="2">
                  <c:v>0.64</c:v>
                </c:pt>
                <c:pt idx="3">
                  <c:v>0.57</c:v>
                </c:pt>
                <c:pt idx="4">
                  <c:v>0.61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1.29</c:v>
                </c:pt>
                <c:pt idx="1">
                  <c:v>1.39</c:v>
                </c:pt>
                <c:pt idx="2">
                  <c:v>1.42</c:v>
                </c:pt>
                <c:pt idx="3">
                  <c:v>1.31</c:v>
                </c:pt>
                <c:pt idx="4">
                  <c:v>1.71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1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0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PQ-277 (10.06.2022), PQ-5006 (24.02.2021), PF-130 (12.08.2025)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suvlari, minerallashuv,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16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2025–26); asosan Mingbuloq tumani (14,7 ming ga)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 tumanlar boʻyicha, ga (2022 va 2023 yil hosili)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viloyatida gʻoʻza maydoni 82,1 dan 77,8 ming gaga kamaygan (2022 → 2023); donli ekinlar 99,5 dan 95,7 ming gaga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242,1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2022 va 2023 yillarda deyarli oʻzgarmagan; tarkib oʻzgargan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11 177 fermer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Fermer xoʻjaliklari (2023-yil 1-yanvar): umumiy yer 350,0 ming ga; 2 587 paxta-gʻallachilik xoʻjaligi — 217,0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(2022, 2023) va fermer xoʻjaliklari ixtisosligi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(2024–2025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33 104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rejasi (11 tuman); kuchli shoʻrlangan yerlar qayta yuvilgani uchun jami ish hajmi 33 423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Kuchsiz shoʻrlangan yerlar (28 918 ga); oʻrta shoʻrlangan — 3 867 ga (11,7%)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319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maydon: Dangʻara (109), Qoʻshtepa (122) va Furqat (88) tumanlarida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tumanlarida 2024–2025 yillarda shoʻr yuviladigan maydonlar toʻgʻrisida maʼlumot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(2023–2024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5 680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yuviladigan maydon: Ulugʻnor 3 829, Baliqchi 1 249, Boʻston 602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ulushi (3 829 ga); paxta hosildorligi ham viloyat oʻrtachasidan past tuman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18,6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Talab etiladigan suv (Ulugʻnor — 12,5); ishlar 15.11.2023 dan 25.01.2024 gacha rejalashtirilgan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tumanlarida 2023–2024 yillar kuzgi-qishki shoʻr yuvish grafigi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shoʻr yuvish bajarilishi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yuvish, ga: reja va amalda (2025–26, 16.01.2026 holati)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22 560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yuvishga tayyorlangan yer (2024–25 yilda — 22 657 ga); 100% bajarilgan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bajarilishi: 24 411 dan 28 399 ga (16.01.2026); 2024–25 yilda mavsum oxirida — 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68,4%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Pop tumanida bajarilish eng past (7 161 dan 10 466 ga); Mingbuloqda — 96,2%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shoʻr yuvish hisobotlari (11.02.2025 va 16.01.2026)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suv olish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Tumanlarga ajratilgan suv sarfi, m³/s (10.01.2026):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65,5 m³/s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 boʻyicha amalda olingan suv; kunlik reja — 34,5 m³/s (+90%)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13 ta tuman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Amalda olingan suv rejadan yuqori; Oʻzbekiston tumanida 6,0 (reja 1,5), Buvayda va Dangʻarada ~2 barobar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Yanvar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Hisobot sanasi (10.01.2026) shoʻr yuvish mavsumiga toʻgʻri keladi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tumanlarga suv manbalaridan ajratilayotgan suv sarflari toʻgʻrisida maʼlumot, 10.01.2026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bugʻdoy maydoni, ming ga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61,0 dan 48,9 ming gaga kamaygan (2024 → 2025); 2026 yil rejasida ham 48,9 ming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182,7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2026 yil jami ekin joylashtirish (2025 yilda 196,7 ming ga, −7%); asosiy kamayish Pop tumanida: 37,6 → 27,9 ming 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4521D"/>
                </a:solidFill>
                <a:latin typeface="Source Serif 4"/>
              </a:rPr>
              <a:t>Pop va Mingbuloq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Gʻoʻzaning eng katta maydonlari: 2025 yilda Mingbuloq 10,7 va Pop 6,3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2024, 2025 va 2026 yil hosili uchun ekin joylashtirish rejalari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yer degradatsiyasi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Degradatsiyani kamaytirish tadbirlari, ming ga (2025):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1% gacha boʻlgan tuproqlarda unumdorlik oshirilgan (105,8%); asosan Pop (6,7) va Mingbuloq (1,8)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0,3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Tuproq shoʻrlanishini kamaytirish: Mingbuloq 0,2, Pop 0,1 (reja 110% bajarilgan)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Degradatsiyaga uchragan yerlar holati yaxshilangan (108,3%); Pop tumanida — 2,3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viloyatida 2025 yilda yer degradatsiyasini kamaytirish prognoz koʻrsatkichlarining bajarilishi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suv unumdorligi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1 m³ sugʻorish suvidan olingan hosil, kg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Paxtaga 1 ga uchun berilgan suv 7,31 dan 5,72 ming m³ gacha kamaygan (2019 → 2024); hosildorlik 32,6 dan 35,1 s/ga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+36%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Paxtada 1 m³ suvdan olingan hosil 0,45 dan 0,61 kg gacha oshgan; donda 1,29 dan 1,71 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5,5 barobar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1 ga ga 31,6 ming m³ suv sarflaydi (paxta — 5,7 ming m³), 1 m³ dan 0,14 kg hosil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1 m³ suv bilan olingan qishloq xoʻjalik mahsulotlari (2021 yil nusxa boʻlgani uchun chiqarilgan)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· ADABIYOT TAHLILI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Markaziy Fargʻona tuproqlari: oldingi tadqiqot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2800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0,86–0,96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800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Gumus miqdori bilan gʻoʻza hosildorligi orasidagi korrelyatsiya (r): oʻtloqi 0,92, oʻtloqi-saz 0,96, choʻl-oʻtloqi 0,86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4496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496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1,5–2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4496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Qoʻshtepa tumanida botqoq-oʻtloqi tuproqlarda sizot suvlari sathi pasaygan va tuproqlar oʻtloqi tomon oʻzgargan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800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2800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1999 →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800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Choʻl-oʻtloqi tuproqlarda gumus 0,19–0,51% dan 0,39–0,92% gacha oshgan; bonitet 1,0–4,7 ballga yaxshilangan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4496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496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96,7–199,9 t/ga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496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Tuproqning 0–1 m qatlamida tuzlar zahirasi; 1:10 000 miqyosli shoʻrlanish kartogrammalari tuzilgan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5700000"/>
            <a:ext cx="108833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 misolida; ish GAT texnologiyalari asosida gipsli tuproqlar xaritasi loyihasi doirasida bajarilgan.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M.K.Pulatov, PhD avtoreferati (Markaziy Fargʻona tuproqlari), Toshkent,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